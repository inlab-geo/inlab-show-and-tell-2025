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3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4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heme/theme5.xml" ContentType="application/vnd.openxmlformats-officedocument.theme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6.xml" ContentType="application/vnd.openxmlformats-officedocument.theme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  <p:sldMasterId id="2147483745" r:id="rId2"/>
    <p:sldMasterId id="2147483765" r:id="rId3"/>
    <p:sldMasterId id="2147483781" r:id="rId4"/>
    <p:sldMasterId id="2147483801" r:id="rId5"/>
    <p:sldMasterId id="2147483709" r:id="rId6"/>
    <p:sldMasterId id="2147483729" r:id="rId7"/>
  </p:sldMasterIdLst>
  <p:notesMasterIdLst>
    <p:notesMasterId r:id="rId13"/>
  </p:notesMasterIdLst>
  <p:handoutMasterIdLst>
    <p:handoutMasterId r:id="rId14"/>
  </p:handoutMasterIdLst>
  <p:sldIdLst>
    <p:sldId id="18698" r:id="rId8"/>
    <p:sldId id="18700" r:id="rId9"/>
    <p:sldId id="18699" r:id="rId10"/>
    <p:sldId id="18691" r:id="rId11"/>
    <p:sldId id="18697" r:id="rId12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599">
          <p15:clr>
            <a:srgbClr val="A4A3A4"/>
          </p15:clr>
        </p15:guide>
        <p15:guide id="3" pos="2880">
          <p15:clr>
            <a:srgbClr val="A4A3A4"/>
          </p15:clr>
        </p15:guide>
        <p15:guide id="4" pos="5602" userDrawn="1">
          <p15:clr>
            <a:srgbClr val="A4A3A4"/>
          </p15:clr>
        </p15:guide>
        <p15:guide id="5" pos="1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4F6"/>
    <a:srgbClr val="FF0000"/>
    <a:srgbClr val="00A9CE"/>
    <a:srgbClr val="001D34"/>
    <a:srgbClr val="3D5D6B"/>
    <a:srgbClr val="007A53"/>
    <a:srgbClr val="004B87"/>
    <a:srgbClr val="DADBD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70" autoAdjust="0"/>
    <p:restoredTop sz="96301" autoAdjust="0"/>
  </p:normalViewPr>
  <p:slideViewPr>
    <p:cSldViewPr showGuides="1">
      <p:cViewPr varScale="1">
        <p:scale>
          <a:sx n="162" d="100"/>
          <a:sy n="162" d="100"/>
        </p:scale>
        <p:origin x="176" y="312"/>
      </p:cViewPr>
      <p:guideLst>
        <p:guide orient="horz" pos="1620"/>
        <p:guide orient="horz" pos="599"/>
        <p:guide pos="2880"/>
        <p:guide pos="5602"/>
        <p:guide pos="15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2" d="100"/>
        <a:sy n="162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14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FA697C-5849-4DDF-A6C8-08E6893940F4}" type="datetimeFigureOut">
              <a:rPr lang="en-AU" smtClean="0"/>
              <a:pPr/>
              <a:t>27/10/2025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014AF-979A-46D9-9B43-4C67319580DA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144417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992BC2-9435-4D31-AEB3-5D5877AD6447}" type="datetimeFigureOut">
              <a:rPr lang="en-AU" smtClean="0"/>
              <a:pPr/>
              <a:t>27/10/2025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96215-5E4C-414D-A8DB-C38AA7CF7C2A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3183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9F00-782E-F683-91E7-91D427DC7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67F01-6F55-F889-4B74-27AD30F91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1F15FD-998B-E448-DDD2-03A68B1F5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F3272-5C05-53A6-E9A5-CF91E2EB9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37539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43FFD-3C2C-92F3-6882-45AD5316A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0617A8-DA5A-2FD3-8C8C-36200329B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FEB1E7-C8BE-482E-A9EF-53A5810EA4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8ECE8-FB1D-4098-FFCE-828F111FE1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3186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A50B-99CC-76B9-9951-698F4D34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F48D0-F7EB-8EE8-38F4-D6E61CA70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D8FC67-965E-B547-A857-283B19D8A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E5CA-6DDB-B0C4-FE4D-24F79A905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5446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7777E-87D8-6239-1864-980BB22B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630476-AC50-1217-29A9-EBC511742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8714E-FDBA-3E18-6CC9-7561C177F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0D298-F156-9AFB-A6C8-83B1F6DE22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124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5.svg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432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18110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516216" y="582251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1520" y="267494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040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640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14257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23933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41686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5066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44168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4656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744884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843388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672631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8952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720080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2A108-B854-40BC-AA72-4E9E7C74E5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669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28AE86-1CD5-4E73-826D-CE2783C6AC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322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293303-2843-4D52-97D9-AF77676C9C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014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920DF2-0C7F-4A3B-9BAF-D692009CA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2589A1-48A8-4C4C-9006-4BAA8009E4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3687" y="413437"/>
            <a:ext cx="4316625" cy="43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2708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6908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1532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932665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011801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973959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54827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183587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424757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5335766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625945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982742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1306665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1828722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04584692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54D81D-7CFA-4E8D-924E-F049F52C1BE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0700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Rectangle 28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F62FF1-8277-4CEC-A22F-7E8130E254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9568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684076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785B6E-E88B-43F0-AF0F-FE873692AB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03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684076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FF943A-2EFE-4939-9416-AA45E8893D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41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516216" y="582251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A196B7-7271-40B8-B951-8FDD29916E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278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46455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1124826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587599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348174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1815587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849979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819441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06382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0063848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984940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6DC4BE-CEEE-431B-9F14-9C57722140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11303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6984776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794113-D310-44FA-B463-B20C679AB5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22167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E31894D-BB7F-4DA8-8D6C-C5A7A751E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711503A-192E-4575-80CF-A393277570CC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2195934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3F349AB-7817-4CF8-9EFC-2CD503B2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BB22E12-9556-46D6-9897-3CA8F81E5AF4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2223766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2589A1-48A8-4C4C-9006-4BAA8009E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3687" y="413437"/>
            <a:ext cx="4316625" cy="4316625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2EE9FCB-7566-4817-BC3E-151216DAC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7F65CF7-BE56-42AE-89A3-8632383904C9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3513602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4847982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5788638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285501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8150668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4958222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0073317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0140729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032678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4840736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759228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332496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073846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66008783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0690027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3E1FEB1-B064-4A02-9F41-042BA4A65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D8E361E-CD87-443C-800B-4A44210D567D}"/>
              </a:ext>
            </a:extLst>
          </p:cNvPr>
          <p:cNvSpPr/>
          <p:nvPr userDrawn="1"/>
        </p:nvSpPr>
        <p:spPr>
          <a:xfrm>
            <a:off x="251520" y="4711673"/>
            <a:ext cx="32403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09840618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95896B-47EC-4FA1-B742-A753A2405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DCE8BE1-B123-4F39-B7B9-5731EE8B58DC}"/>
              </a:ext>
            </a:extLst>
          </p:cNvPr>
          <p:cNvSpPr/>
          <p:nvPr userDrawn="1"/>
        </p:nvSpPr>
        <p:spPr>
          <a:xfrm>
            <a:off x="251520" y="4711673"/>
            <a:ext cx="32403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53425235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576064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387BE29-1632-4D81-AE78-54533B5FB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86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576064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1CABD70-4867-48FD-AC0D-DCF015F1B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ED3FF37-CBD0-4006-BB03-019DB869F03D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864751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652120" y="470994"/>
            <a:ext cx="324951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Operated by CSIRO, Australia’s National Science Agency, </a:t>
            </a:r>
            <a:br>
              <a:rPr lang="en-AU" sz="1000" dirty="0">
                <a:solidFill>
                  <a:schemeClr val="bg1"/>
                </a:solidFill>
              </a:rPr>
            </a:br>
            <a:r>
              <a:rPr lang="en-AU" sz="1000" dirty="0">
                <a:solidFill>
                  <a:schemeClr val="bg1"/>
                </a:solidFill>
              </a:rPr>
              <a:t>on behalf of the nation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4E7955D-800C-4935-BA3F-A34E93CC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20" y="267494"/>
            <a:ext cx="2731182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219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4639224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6475195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642754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193395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95410454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4887027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321172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351679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870715767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0078357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5760640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95FEBB1-2FB4-404D-B517-C1502B59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93F3E07-2251-45C6-9608-F9B7BC275A58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72092315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576064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6E1E94-9471-4672-BA14-8DD18A74F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CBBD1A7-F5C4-41D4-8812-4A43FA84033A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61674689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0E9AAB-FD72-2643-BFC4-B94B291F6B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672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B9622D-F19E-432D-860A-326029CCE7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23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EA4BEA-90AA-46F4-829C-BDC63E08A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09831" y="411510"/>
            <a:ext cx="4324337" cy="43204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</p:spTree>
    <p:extLst>
      <p:ext uri="{BB962C8B-B14F-4D97-AF65-F5344CB8AC3E}">
        <p14:creationId xmlns:p14="http://schemas.microsoft.com/office/powerpoint/2010/main" val="1078919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B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406DC2-4C63-CE6E-8989-E5CBD84A96E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1760" y="411510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210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1AF00-555A-4FD8-DF4E-B5BCF4779CE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11759" y="409582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4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90276-62BF-55D4-CEF4-D7FFC9C597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1759" y="411510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43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752781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5559165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9813709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7225306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4976071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5058857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51072430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half horizontal image (about us onl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0" y="2767500"/>
            <a:ext cx="9143999" cy="23760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15437075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3512395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19339810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53952526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94395556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538541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917595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118050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808312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6B03B6-C4D9-4B46-A461-4BD384CE34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652318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Rectangle 28"/>
          <p:cNvSpPr/>
          <p:nvPr userDrawn="1"/>
        </p:nvSpPr>
        <p:spPr>
          <a:xfrm>
            <a:off x="251520" y="4850173"/>
            <a:ext cx="288032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F8021B-8237-44DA-97CC-7AE087B0EF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11539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952328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FD9A8B-B204-4EC3-9CD2-BA2AD366ED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548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3096344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6C1F87-268D-4E82-9F10-8C710E20EE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0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940152" y="582251"/>
            <a:ext cx="296148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9876AC-9600-4B4D-B446-34DCB05E2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41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3585760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47962759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06312949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23046482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0104707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1022428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5040136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4538494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0606576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2272121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952328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B0BF06-28AD-4AE0-B95F-477AF982B2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465319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D40E9F-1680-46D9-A966-C00787EC8D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720080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808312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</p:spTree>
    <p:extLst>
      <p:ext uri="{BB962C8B-B14F-4D97-AF65-F5344CB8AC3E}">
        <p14:creationId xmlns:p14="http://schemas.microsoft.com/office/powerpoint/2010/main" val="3214813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18.xml"/><Relationship Id="rId21" Type="http://schemas.openxmlformats.org/officeDocument/2006/relationships/image" Target="../media/image2.emf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2.xml"/><Relationship Id="rId2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31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34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image" Target="../media/image2.emf"/><Relationship Id="rId2" Type="http://schemas.openxmlformats.org/officeDocument/2006/relationships/slideLayout" Target="../slideLayouts/slideLayout36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7.xml"/><Relationship Id="rId3" Type="http://schemas.openxmlformats.org/officeDocument/2006/relationships/slideLayout" Target="../slideLayouts/slideLayout52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6.xml"/><Relationship Id="rId2" Type="http://schemas.openxmlformats.org/officeDocument/2006/relationships/slideLayout" Target="../slideLayouts/slideLayout51.xml"/><Relationship Id="rId16" Type="http://schemas.openxmlformats.org/officeDocument/2006/relationships/slideLayout" Target="../slideLayouts/slideLayout65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59.xml"/><Relationship Id="rId19" Type="http://schemas.openxmlformats.org/officeDocument/2006/relationships/slideLayout" Target="../slideLayouts/slideLayout68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63.xml"/><Relationship Id="rId22" Type="http://schemas.openxmlformats.org/officeDocument/2006/relationships/image" Target="../media/image5.sv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6.xml"/><Relationship Id="rId13" Type="http://schemas.openxmlformats.org/officeDocument/2006/relationships/slideLayout" Target="../slideLayouts/slideLayout81.xml"/><Relationship Id="rId18" Type="http://schemas.openxmlformats.org/officeDocument/2006/relationships/image" Target="../media/image5.svg"/><Relationship Id="rId3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5.xml"/><Relationship Id="rId12" Type="http://schemas.openxmlformats.org/officeDocument/2006/relationships/slideLayout" Target="../slideLayouts/slideLayout80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70.xml"/><Relationship Id="rId16" Type="http://schemas.openxmlformats.org/officeDocument/2006/relationships/theme" Target="../theme/theme5.xml"/><Relationship Id="rId1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4.xml"/><Relationship Id="rId11" Type="http://schemas.openxmlformats.org/officeDocument/2006/relationships/slideLayout" Target="../slideLayouts/slideLayout79.xml"/><Relationship Id="rId5" Type="http://schemas.openxmlformats.org/officeDocument/2006/relationships/slideLayout" Target="../slideLayouts/slideLayout73.xml"/><Relationship Id="rId15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14" Type="http://schemas.openxmlformats.org/officeDocument/2006/relationships/slideLayout" Target="../slideLayouts/slideLayout8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1.xml"/><Relationship Id="rId13" Type="http://schemas.openxmlformats.org/officeDocument/2006/relationships/slideLayout" Target="../slideLayouts/slideLayout96.xml"/><Relationship Id="rId18" Type="http://schemas.openxmlformats.org/officeDocument/2006/relationships/slideLayout" Target="../slideLayouts/slideLayout101.xml"/><Relationship Id="rId3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104.xml"/><Relationship Id="rId7" Type="http://schemas.openxmlformats.org/officeDocument/2006/relationships/slideLayout" Target="../slideLayouts/slideLayout90.xml"/><Relationship Id="rId12" Type="http://schemas.openxmlformats.org/officeDocument/2006/relationships/slideLayout" Target="../slideLayouts/slideLayout95.xml"/><Relationship Id="rId17" Type="http://schemas.openxmlformats.org/officeDocument/2006/relationships/slideLayout" Target="../slideLayouts/slideLayout100.xml"/><Relationship Id="rId25" Type="http://schemas.openxmlformats.org/officeDocument/2006/relationships/image" Target="../media/image7.emf"/><Relationship Id="rId2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99.xml"/><Relationship Id="rId20" Type="http://schemas.openxmlformats.org/officeDocument/2006/relationships/slideLayout" Target="../slideLayouts/slideLayout103.xml"/><Relationship Id="rId1" Type="http://schemas.openxmlformats.org/officeDocument/2006/relationships/slideLayout" Target="../slideLayouts/slideLayout84.xml"/><Relationship Id="rId6" Type="http://schemas.openxmlformats.org/officeDocument/2006/relationships/slideLayout" Target="../slideLayouts/slideLayout89.xml"/><Relationship Id="rId11" Type="http://schemas.openxmlformats.org/officeDocument/2006/relationships/slideLayout" Target="../slideLayouts/slideLayout94.xml"/><Relationship Id="rId24" Type="http://schemas.openxmlformats.org/officeDocument/2006/relationships/theme" Target="../theme/theme6.xml"/><Relationship Id="rId5" Type="http://schemas.openxmlformats.org/officeDocument/2006/relationships/slideLayout" Target="../slideLayouts/slideLayout88.xml"/><Relationship Id="rId15" Type="http://schemas.openxmlformats.org/officeDocument/2006/relationships/slideLayout" Target="../slideLayouts/slideLayout98.xml"/><Relationship Id="rId23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102.xml"/><Relationship Id="rId4" Type="http://schemas.openxmlformats.org/officeDocument/2006/relationships/slideLayout" Target="../slideLayouts/slideLayout87.xml"/><Relationship Id="rId9" Type="http://schemas.openxmlformats.org/officeDocument/2006/relationships/slideLayout" Target="../slideLayouts/slideLayout92.xml"/><Relationship Id="rId14" Type="http://schemas.openxmlformats.org/officeDocument/2006/relationships/slideLayout" Target="../slideLayouts/slideLayout97.xml"/><Relationship Id="rId22" Type="http://schemas.openxmlformats.org/officeDocument/2006/relationships/slideLayout" Target="../slideLayouts/slideLayout105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4.xml"/><Relationship Id="rId13" Type="http://schemas.openxmlformats.org/officeDocument/2006/relationships/slideLayout" Target="../slideLayouts/slideLayout119.xml"/><Relationship Id="rId3" Type="http://schemas.openxmlformats.org/officeDocument/2006/relationships/slideLayout" Target="../slideLayouts/slideLayout109.xml"/><Relationship Id="rId7" Type="http://schemas.openxmlformats.org/officeDocument/2006/relationships/slideLayout" Target="../slideLayouts/slideLayout113.xml"/><Relationship Id="rId12" Type="http://schemas.openxmlformats.org/officeDocument/2006/relationships/slideLayout" Target="../slideLayouts/slideLayout118.xml"/><Relationship Id="rId17" Type="http://schemas.openxmlformats.org/officeDocument/2006/relationships/image" Target="../media/image7.emf"/><Relationship Id="rId2" Type="http://schemas.openxmlformats.org/officeDocument/2006/relationships/slideLayout" Target="../slideLayouts/slideLayout108.xml"/><Relationship Id="rId16" Type="http://schemas.openxmlformats.org/officeDocument/2006/relationships/theme" Target="../theme/theme7.xml"/><Relationship Id="rId1" Type="http://schemas.openxmlformats.org/officeDocument/2006/relationships/slideLayout" Target="../slideLayouts/slideLayout107.xml"/><Relationship Id="rId6" Type="http://schemas.openxmlformats.org/officeDocument/2006/relationships/slideLayout" Target="../slideLayouts/slideLayout112.xml"/><Relationship Id="rId11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1.xml"/><Relationship Id="rId15" Type="http://schemas.openxmlformats.org/officeDocument/2006/relationships/slideLayout" Target="../slideLayouts/slideLayout121.xml"/><Relationship Id="rId10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0.xml"/><Relationship Id="rId9" Type="http://schemas.openxmlformats.org/officeDocument/2006/relationships/slideLayout" Target="../slideLayouts/slideLayout115.xml"/><Relationship Id="rId14" Type="http://schemas.openxmlformats.org/officeDocument/2006/relationships/slideLayout" Target="../slideLayouts/slideLayout1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479813" y="4561859"/>
            <a:ext cx="442169" cy="44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37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97" r:id="rId2"/>
    <p:sldLayoutId id="2147483701" r:id="rId3"/>
    <p:sldLayoutId id="2147483685" r:id="rId4"/>
    <p:sldLayoutId id="2147483705" r:id="rId5"/>
    <p:sldLayoutId id="2147483686" r:id="rId6"/>
    <p:sldLayoutId id="2147483687" r:id="rId7"/>
    <p:sldLayoutId id="2147483688" r:id="rId8"/>
    <p:sldLayoutId id="2147483689" r:id="rId9"/>
    <p:sldLayoutId id="2147483708" r:id="rId10"/>
    <p:sldLayoutId id="2147483690" r:id="rId11"/>
    <p:sldLayoutId id="2147483691" r:id="rId12"/>
    <p:sldLayoutId id="2147483692" r:id="rId13"/>
    <p:sldLayoutId id="2147483693" r:id="rId14"/>
    <p:sldLayoutId id="2147483694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DD59A-4148-4107-89BD-9ACB60B45F7F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195486"/>
            <a:ext cx="936488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333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  <p:sldLayoutId id="2147483757" r:id="rId12"/>
    <p:sldLayoutId id="2147483758" r:id="rId13"/>
    <p:sldLayoutId id="2147483759" r:id="rId14"/>
    <p:sldLayoutId id="2147483760" r:id="rId15"/>
    <p:sldLayoutId id="2147483761" r:id="rId16"/>
    <p:sldLayoutId id="2147483762" r:id="rId17"/>
    <p:sldLayoutId id="2147483763" r:id="rId18"/>
    <p:sldLayoutId id="2147483764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5B5D801-8BF9-4650-9BFF-FFF9F24B1811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5494" y="4561228"/>
            <a:ext cx="936488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91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  <p:sldLayoutId id="2147483778" r:id="rId13"/>
    <p:sldLayoutId id="2147483779" r:id="rId14"/>
    <p:sldLayoutId id="2147483780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8F4E070-DE66-4ABC-A8F6-3559DD6EA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51519" y="195486"/>
            <a:ext cx="1768081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95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2" r:id="rId1"/>
    <p:sldLayoutId id="2147483783" r:id="rId2"/>
    <p:sldLayoutId id="2147483784" r:id="rId3"/>
    <p:sldLayoutId id="2147483785" r:id="rId4"/>
    <p:sldLayoutId id="2147483786" r:id="rId5"/>
    <p:sldLayoutId id="2147483787" r:id="rId6"/>
    <p:sldLayoutId id="2147483788" r:id="rId7"/>
    <p:sldLayoutId id="2147483789" r:id="rId8"/>
    <p:sldLayoutId id="2147483790" r:id="rId9"/>
    <p:sldLayoutId id="2147483791" r:id="rId10"/>
    <p:sldLayoutId id="2147483792" r:id="rId11"/>
    <p:sldLayoutId id="2147483793" r:id="rId12"/>
    <p:sldLayoutId id="2147483794" r:id="rId13"/>
    <p:sldLayoutId id="2147483795" r:id="rId14"/>
    <p:sldLayoutId id="2147483796" r:id="rId15"/>
    <p:sldLayoutId id="2147483797" r:id="rId16"/>
    <p:sldLayoutId id="2147483798" r:id="rId17"/>
    <p:sldLayoutId id="2147483799" r:id="rId18"/>
    <p:sldLayoutId id="2147483800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48BB93D-47BD-4299-AC60-ADD2BF55C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153901" y="4561228"/>
            <a:ext cx="1768081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84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  <p:sldLayoutId id="2147483813" r:id="rId12"/>
    <p:sldLayoutId id="2147483814" r:id="rId13"/>
    <p:sldLayoutId id="2147483815" r:id="rId14"/>
    <p:sldLayoutId id="2147483816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99F6DE-9351-1240-AACA-180705475965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0" y="245070"/>
            <a:ext cx="1010317" cy="23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42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824" r:id="rId4"/>
    <p:sldLayoutId id="2147483826" r:id="rId5"/>
    <p:sldLayoutId id="2147483825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  <p:sldLayoutId id="2147483827" r:id="rId14"/>
    <p:sldLayoutId id="2147483720" r:id="rId15"/>
    <p:sldLayoutId id="2147483721" r:id="rId16"/>
    <p:sldLayoutId id="2147483722" r:id="rId17"/>
    <p:sldLayoutId id="2147483723" r:id="rId18"/>
    <p:sldLayoutId id="2147483724" r:id="rId19"/>
    <p:sldLayoutId id="2147483725" r:id="rId20"/>
    <p:sldLayoutId id="2147483726" r:id="rId21"/>
    <p:sldLayoutId id="2147483727" r:id="rId22"/>
    <p:sldLayoutId id="2147483728" r:id="rId2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46349F-4F50-4446-8BA9-4263776EBB91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2858" y="4709569"/>
            <a:ext cx="1010317" cy="23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22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602">
          <p15:clr>
            <a:srgbClr val="F26B43"/>
          </p15:clr>
        </p15:guide>
        <p15:guide id="2" orient="horz" pos="31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0.xml"/><Relationship Id="rId5" Type="http://schemas.openxmlformats.org/officeDocument/2006/relationships/image" Target="../media/image14.emf"/><Relationship Id="rId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0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0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4.emf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0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3305-70CF-0966-B528-2BA518DD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14004B-9594-8606-8A10-F211A620643E}"/>
              </a:ext>
            </a:extLst>
          </p:cNvPr>
          <p:cNvSpPr/>
          <p:nvPr/>
        </p:nvSpPr>
        <p:spPr>
          <a:xfrm>
            <a:off x="5076056" y="710098"/>
            <a:ext cx="3600400" cy="36618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CCFDB7C-CC2B-A726-39B5-5989505D5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sz="2800" dirty="0"/>
              <a:t>Beyond this meeting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234B26-9001-6CB6-CFC8-F332F357C9D5}"/>
              </a:ext>
            </a:extLst>
          </p:cNvPr>
          <p:cNvSpPr txBox="1"/>
          <p:nvPr/>
        </p:nvSpPr>
        <p:spPr>
          <a:xfrm>
            <a:off x="391843" y="955629"/>
            <a:ext cx="45334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key aspect of </a:t>
            </a:r>
            <a:r>
              <a:rPr lang="en-US" dirty="0" err="1"/>
              <a:t>CoFI</a:t>
            </a:r>
            <a:r>
              <a:rPr lang="en-US" dirty="0"/>
              <a:t> is the flexibility provided for exploration and experimentation in inversion</a:t>
            </a:r>
          </a:p>
          <a:p>
            <a:endParaRPr lang="en-US" dirty="0"/>
          </a:p>
          <a:p>
            <a:r>
              <a:rPr lang="en-US" dirty="0"/>
              <a:t>Created examples and brought existing capabilities together</a:t>
            </a:r>
          </a:p>
          <a:p>
            <a:endParaRPr lang="en-US" dirty="0"/>
          </a:p>
          <a:p>
            <a:r>
              <a:rPr lang="en-US" dirty="0"/>
              <a:t>Making unique approaches accessible through the common interface and grow the set of examples</a:t>
            </a:r>
          </a:p>
          <a:p>
            <a:endParaRPr lang="en-US" dirty="0"/>
          </a:p>
          <a:p>
            <a:r>
              <a:rPr lang="en-US" dirty="0"/>
              <a:t>A FAIR example driven framework…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5C5B64CE-1260-5F3A-EC59-FE849D99D8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1</a:t>
            </a:fld>
            <a:r>
              <a:rPr lang="en-AU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947CA4-5173-0C04-DBDA-F37CF72189F2}"/>
              </a:ext>
            </a:extLst>
          </p:cNvPr>
          <p:cNvSpPr txBox="1"/>
          <p:nvPr/>
        </p:nvSpPr>
        <p:spPr>
          <a:xfrm>
            <a:off x="5364124" y="887799"/>
            <a:ext cx="3024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 conversation about  </a:t>
            </a:r>
            <a:r>
              <a:rPr lang="en-US" sz="1200" dirty="0" err="1"/>
              <a:t>CoFI</a:t>
            </a:r>
            <a:r>
              <a:rPr lang="en-US" sz="1200" dirty="0"/>
              <a:t> over coffee is just the beginning…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D920A8-091D-AC17-D1F0-E2AF97FA04D7}"/>
              </a:ext>
            </a:extLst>
          </p:cNvPr>
          <p:cNvSpPr txBox="1"/>
          <p:nvPr/>
        </p:nvSpPr>
        <p:spPr>
          <a:xfrm>
            <a:off x="5288990" y="3503323"/>
            <a:ext cx="3387466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Explore our examples</a:t>
            </a:r>
          </a:p>
          <a:p>
            <a:endParaRPr lang="en-US" sz="400" b="1" dirty="0"/>
          </a:p>
          <a:p>
            <a:r>
              <a:rPr lang="en-US" sz="1100" b="1" dirty="0"/>
              <a:t>Setup your own inverse problem</a:t>
            </a:r>
          </a:p>
          <a:p>
            <a:endParaRPr lang="en-US" sz="400" b="1" dirty="0"/>
          </a:p>
          <a:p>
            <a:r>
              <a:rPr lang="en-US" sz="1100" b="1" dirty="0"/>
              <a:t>Let us know what you think</a:t>
            </a:r>
          </a:p>
          <a:p>
            <a:endParaRPr lang="en-US" sz="1000" dirty="0"/>
          </a:p>
        </p:txBody>
      </p:sp>
      <p:pic>
        <p:nvPicPr>
          <p:cNvPr id="11" name="Picture 10" descr="A cup of coffee on a saucer&#10;&#10;Description automatically generated">
            <a:extLst>
              <a:ext uri="{FF2B5EF4-FFF2-40B4-BE49-F238E27FC236}">
                <a16:creationId xmlns:a16="http://schemas.microsoft.com/office/drawing/2014/main" id="{0769BC5B-C678-E7D5-0A5C-24951A0F6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124" y="1387875"/>
            <a:ext cx="3096308" cy="2059045"/>
          </a:xfrm>
          <a:prstGeom prst="rect">
            <a:avLst/>
          </a:prstGeom>
        </p:spPr>
      </p:pic>
      <p:pic>
        <p:nvPicPr>
          <p:cNvPr id="7" name="Picture 6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1D4CABCF-558A-E79E-26FE-96C1C6971C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632" y="3585306"/>
            <a:ext cx="701791" cy="7017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B328CA-641C-2CD6-FA7C-8308B84EF179}"/>
              </a:ext>
            </a:extLst>
          </p:cNvPr>
          <p:cNvSpPr txBox="1"/>
          <p:nvPr/>
        </p:nvSpPr>
        <p:spPr>
          <a:xfrm>
            <a:off x="7153514" y="1431447"/>
            <a:ext cx="13289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www.inlab.au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94141A0-EB14-C2D2-1007-57D6391886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7137" y="4545819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8695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00FA0-EE06-D39F-22F3-D04CBBC6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Scalable </a:t>
            </a:r>
            <a:r>
              <a:rPr lang="en-US" sz="2800" dirty="0" err="1"/>
              <a:t>CoFI</a:t>
            </a:r>
            <a:r>
              <a:rPr lang="en-US" sz="2800" dirty="0"/>
              <a:t>…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7E7F440-E353-987D-3D39-83121F2F8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929" y="1016337"/>
            <a:ext cx="3889600" cy="3211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759000-6DAC-FBDE-157E-1F20E6C3DE55}"/>
              </a:ext>
            </a:extLst>
          </p:cNvPr>
          <p:cNvSpPr txBox="1"/>
          <p:nvPr/>
        </p:nvSpPr>
        <p:spPr>
          <a:xfrm>
            <a:off x="4727270" y="1203598"/>
            <a:ext cx="40324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Forward problems are frequently the bottleneck in inverse problem workflows.</a:t>
            </a:r>
          </a:p>
          <a:p>
            <a:endParaRPr lang="en-US" dirty="0"/>
          </a:p>
          <a:p>
            <a:r>
              <a:rPr lang="en-US" dirty="0"/>
              <a:t>In many parameter estimation methods, communication typically occurs via linear algebra steps.</a:t>
            </a:r>
          </a:p>
          <a:p>
            <a:endParaRPr lang="en-US" dirty="0"/>
          </a:p>
          <a:p>
            <a:r>
              <a:rPr lang="en-US" dirty="0"/>
              <a:t>In contrast, ensemble methods often exhibit less communication between walkers, chains, or states</a:t>
            </a:r>
          </a:p>
        </p:txBody>
      </p:sp>
    </p:spTree>
    <p:extLst>
      <p:ext uri="{BB962C8B-B14F-4D97-AF65-F5344CB8AC3E}">
        <p14:creationId xmlns:p14="http://schemas.microsoft.com/office/powerpoint/2010/main" val="1173846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D3D93-DDAC-4835-CEAC-350CBFAEB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EF9D204A-1D89-3432-5055-2D8E552D1ABD}"/>
              </a:ext>
            </a:extLst>
          </p:cNvPr>
          <p:cNvSpPr/>
          <p:nvPr/>
        </p:nvSpPr>
        <p:spPr>
          <a:xfrm>
            <a:off x="3349560" y="881609"/>
            <a:ext cx="5402465" cy="37149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D55C6EF-16DC-F8A4-EF6F-5DC0738DA9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3"/>
          <a:stretch>
            <a:fillRect/>
          </a:stretch>
        </p:blipFill>
        <p:spPr>
          <a:xfrm>
            <a:off x="3568798" y="1111004"/>
            <a:ext cx="1588914" cy="14471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F616174-A116-87D4-3503-5AC3687D1A82}"/>
              </a:ext>
            </a:extLst>
          </p:cNvPr>
          <p:cNvSpPr/>
          <p:nvPr/>
        </p:nvSpPr>
        <p:spPr>
          <a:xfrm>
            <a:off x="234815" y="3233112"/>
            <a:ext cx="2832261" cy="1126353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73B86-F26C-5C05-E325-93C395C45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sz="2800" dirty="0"/>
              <a:t>Beyond trans-dimensional sampling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CCBBB87F-6ACF-A4D1-E9F9-3A454F00A6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3</a:t>
            </a:fld>
            <a:r>
              <a:rPr lang="en-AU" dirty="0"/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0BF073-2D3A-8BD9-B480-C9C70190C4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667"/>
          <a:stretch>
            <a:fillRect/>
          </a:stretch>
        </p:blipFill>
        <p:spPr>
          <a:xfrm>
            <a:off x="7667137" y="4596563"/>
            <a:ext cx="1440160" cy="5346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D50AA0B-BC53-CE48-93B5-FDFE8954F20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591" b="8395"/>
          <a:stretch>
            <a:fillRect/>
          </a:stretch>
        </p:blipFill>
        <p:spPr>
          <a:xfrm>
            <a:off x="421078" y="3468031"/>
            <a:ext cx="2487283" cy="65302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C5D488F-AA97-8964-E131-5CDC0A8A8D2D}"/>
              </a:ext>
            </a:extLst>
          </p:cNvPr>
          <p:cNvSpPr txBox="1"/>
          <p:nvPr/>
        </p:nvSpPr>
        <p:spPr>
          <a:xfrm>
            <a:off x="1399834" y="4143492"/>
            <a:ext cx="46587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err="1"/>
              <a:t>emcee.readthedocs.io</a:t>
            </a:r>
            <a:r>
              <a:rPr lang="en-US" sz="800" dirty="0"/>
              <a:t>/</a:t>
            </a:r>
            <a:r>
              <a:rPr lang="en-US" sz="800" dirty="0" err="1"/>
              <a:t>en</a:t>
            </a:r>
            <a:r>
              <a:rPr lang="en-US" sz="800" dirty="0"/>
              <a:t>/stable/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5A87DE-AC70-FC83-6CB9-A02F462AD4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002" y="962042"/>
            <a:ext cx="2664571" cy="19664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0905C0A-A792-B216-2271-4801B2260669}"/>
              </a:ext>
            </a:extLst>
          </p:cNvPr>
          <p:cNvSpPr txBox="1"/>
          <p:nvPr/>
        </p:nvSpPr>
        <p:spPr>
          <a:xfrm>
            <a:off x="1636830" y="2802291"/>
            <a:ext cx="21137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err="1"/>
              <a:t>github.com</a:t>
            </a:r>
            <a:r>
              <a:rPr lang="en-US" sz="800" dirty="0"/>
              <a:t>/</a:t>
            </a:r>
            <a:r>
              <a:rPr lang="en-US" sz="800" dirty="0" err="1"/>
              <a:t>inlab</a:t>
            </a:r>
            <a:r>
              <a:rPr lang="en-US" sz="800" dirty="0"/>
              <a:t>-geo/</a:t>
            </a:r>
            <a:r>
              <a:rPr lang="en-US" sz="800" dirty="0" err="1"/>
              <a:t>pyrjmcmc</a:t>
            </a:r>
            <a:endParaRPr lang="en-US" sz="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8AE6D0-3A16-2B24-EAB3-25D51F9CCAA0}"/>
              </a:ext>
            </a:extLst>
          </p:cNvPr>
          <p:cNvSpPr txBox="1"/>
          <p:nvPr/>
        </p:nvSpPr>
        <p:spPr>
          <a:xfrm>
            <a:off x="179147" y="2815358"/>
            <a:ext cx="217004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err="1"/>
              <a:t>github.com</a:t>
            </a:r>
            <a:r>
              <a:rPr lang="en-US" sz="800" dirty="0"/>
              <a:t>/</a:t>
            </a:r>
            <a:r>
              <a:rPr lang="en-US" sz="800" dirty="0" err="1"/>
              <a:t>fmagrini</a:t>
            </a:r>
            <a:r>
              <a:rPr lang="en-US" sz="800" dirty="0"/>
              <a:t>/bayes-bay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EDFB2-BBF1-5D5E-FE23-8209FA3D5EA1}"/>
              </a:ext>
            </a:extLst>
          </p:cNvPr>
          <p:cNvSpPr txBox="1"/>
          <p:nvPr/>
        </p:nvSpPr>
        <p:spPr>
          <a:xfrm>
            <a:off x="234815" y="3291664"/>
            <a:ext cx="37153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Unified Interface for ensemble methods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95DE4-2031-C4D6-8AC8-16C679E5CE64}"/>
              </a:ext>
            </a:extLst>
          </p:cNvPr>
          <p:cNvSpPr txBox="1"/>
          <p:nvPr/>
        </p:nvSpPr>
        <p:spPr>
          <a:xfrm>
            <a:off x="6341028" y="4254552"/>
            <a:ext cx="459958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/>
              <a:t>github.com</a:t>
            </a:r>
            <a:r>
              <a:rPr lang="en-US" sz="900" dirty="0"/>
              <a:t>/</a:t>
            </a:r>
            <a:r>
              <a:rPr lang="en-US" sz="900" dirty="0" err="1"/>
              <a:t>inlab</a:t>
            </a:r>
            <a:r>
              <a:rPr lang="en-US" sz="900" dirty="0"/>
              <a:t>-geo/</a:t>
            </a:r>
            <a:r>
              <a:rPr lang="en-US" sz="900" dirty="0" err="1"/>
              <a:t>pyTransC</a:t>
            </a:r>
            <a:endParaRPr lang="en-US" sz="9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463472-AC5D-EC3A-5CA7-D85C5EAFB757}"/>
              </a:ext>
            </a:extLst>
          </p:cNvPr>
          <p:cNvSpPr txBox="1"/>
          <p:nvPr/>
        </p:nvSpPr>
        <p:spPr>
          <a:xfrm>
            <a:off x="3793903" y="4252216"/>
            <a:ext cx="553763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/>
              <a:t>github.com</a:t>
            </a:r>
            <a:r>
              <a:rPr lang="en-US" sz="900" dirty="0"/>
              <a:t>/</a:t>
            </a:r>
            <a:r>
              <a:rPr lang="en-US" sz="900" dirty="0" err="1"/>
              <a:t>gempy</a:t>
            </a:r>
            <a:r>
              <a:rPr lang="en-US" sz="900" dirty="0"/>
              <a:t>-project/</a:t>
            </a:r>
            <a:r>
              <a:rPr lang="en-US" sz="900" dirty="0" err="1"/>
              <a:t>gempy</a:t>
            </a:r>
            <a:endParaRPr lang="en-US" sz="9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700F88D-5F3B-2CC9-122B-13F06911CE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271"/>
          <a:stretch>
            <a:fillRect/>
          </a:stretch>
        </p:blipFill>
        <p:spPr>
          <a:xfrm>
            <a:off x="6907723" y="1868755"/>
            <a:ext cx="1777571" cy="95849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E4714CC-AEA8-775F-62CA-4BF817A38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92805" y="2826043"/>
            <a:ext cx="1509342" cy="133795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2192CCA-6223-411B-F65F-4572E1736BA0}"/>
              </a:ext>
            </a:extLst>
          </p:cNvPr>
          <p:cNvSpPr txBox="1"/>
          <p:nvPr/>
        </p:nvSpPr>
        <p:spPr>
          <a:xfrm>
            <a:off x="4591985" y="2423669"/>
            <a:ext cx="69121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8 unknowns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48B29F-0F82-9EE2-FD6D-A31DEFB8D612}"/>
              </a:ext>
            </a:extLst>
          </p:cNvPr>
          <p:cNvSpPr txBox="1"/>
          <p:nvPr/>
        </p:nvSpPr>
        <p:spPr>
          <a:xfrm>
            <a:off x="6932152" y="1457819"/>
            <a:ext cx="19598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Both states can fit the gravity response of state/model 0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B82E3688-57B8-C053-C526-16A4DFAC0CB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3867"/>
          <a:stretch>
            <a:fillRect/>
          </a:stretch>
        </p:blipFill>
        <p:spPr>
          <a:xfrm>
            <a:off x="6834831" y="3298144"/>
            <a:ext cx="1811746" cy="839614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6F4BE5EE-B9DC-C148-50D4-158CE9E0C6E2}"/>
              </a:ext>
            </a:extLst>
          </p:cNvPr>
          <p:cNvSpPr txBox="1"/>
          <p:nvPr/>
        </p:nvSpPr>
        <p:spPr>
          <a:xfrm>
            <a:off x="3544539" y="10925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FC2297-9C10-049F-6361-DF1FB24F05AD}"/>
              </a:ext>
            </a:extLst>
          </p:cNvPr>
          <p:cNvSpPr txBox="1"/>
          <p:nvPr/>
        </p:nvSpPr>
        <p:spPr>
          <a:xfrm>
            <a:off x="3544539" y="28629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6252FA-3835-0751-41C2-D8C8C71A334E}"/>
              </a:ext>
            </a:extLst>
          </p:cNvPr>
          <p:cNvSpPr txBox="1"/>
          <p:nvPr/>
        </p:nvSpPr>
        <p:spPr>
          <a:xfrm>
            <a:off x="4638676" y="3922314"/>
            <a:ext cx="69121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6 unknowns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CFBA54-8ED7-C6EB-B650-97CA9F6075A0}"/>
              </a:ext>
            </a:extLst>
          </p:cNvPr>
          <p:cNvSpPr txBox="1"/>
          <p:nvPr/>
        </p:nvSpPr>
        <p:spPr>
          <a:xfrm>
            <a:off x="6921570" y="2879277"/>
            <a:ext cx="18935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0" i="0" dirty="0">
                <a:effectLst/>
                <a:latin typeface="system-ui"/>
              </a:rPr>
              <a:t> Fits are equal – thus the </a:t>
            </a:r>
          </a:p>
          <a:p>
            <a:r>
              <a:rPr lang="en-AU" sz="1000" b="0" i="0" dirty="0">
                <a:effectLst/>
                <a:latin typeface="system-ui"/>
              </a:rPr>
              <a:t>simpler model is preferred…</a:t>
            </a:r>
            <a:endParaRPr lang="en-US" sz="1000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5F454836-3836-2F69-D64B-3E33A8E850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2419" y="3477117"/>
            <a:ext cx="743344" cy="611779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0A8826D-2481-9280-4134-D84AAFD9796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20361" y="1436303"/>
            <a:ext cx="460573" cy="512389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82D4C0DE-EE9D-CF24-59D8-DEA800089D1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13622"/>
          <a:stretch>
            <a:fillRect/>
          </a:stretch>
        </p:blipFill>
        <p:spPr>
          <a:xfrm>
            <a:off x="5632419" y="1984769"/>
            <a:ext cx="664433" cy="543454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3ADDE169-34AC-624C-712F-B5181105F562}"/>
              </a:ext>
            </a:extLst>
          </p:cNvPr>
          <p:cNvSpPr/>
          <p:nvPr/>
        </p:nvSpPr>
        <p:spPr>
          <a:xfrm>
            <a:off x="5534840" y="1953988"/>
            <a:ext cx="207343" cy="49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C6516EF-825C-01CB-5896-8FE05D69C5AB}"/>
              </a:ext>
            </a:extLst>
          </p:cNvPr>
          <p:cNvSpPr/>
          <p:nvPr/>
        </p:nvSpPr>
        <p:spPr>
          <a:xfrm>
            <a:off x="5537612" y="3409443"/>
            <a:ext cx="207343" cy="49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4F8E39B3-182B-DEB4-D376-68FC3826443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07331" y="2908204"/>
            <a:ext cx="489111" cy="55982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DA55814-714F-7383-BEDE-AC67AB875A96}"/>
              </a:ext>
            </a:extLst>
          </p:cNvPr>
          <p:cNvSpPr txBox="1"/>
          <p:nvPr/>
        </p:nvSpPr>
        <p:spPr>
          <a:xfrm>
            <a:off x="5263399" y="952433"/>
            <a:ext cx="2682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Trans-conceptual sampling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438F58-DFF0-7ADE-D21C-264E52398B2F}"/>
              </a:ext>
            </a:extLst>
          </p:cNvPr>
          <p:cNvSpPr txBox="1"/>
          <p:nvPr/>
        </p:nvSpPr>
        <p:spPr>
          <a:xfrm>
            <a:off x="5736199" y="234905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F8933B-C126-1EAC-2DD6-83F890FC16A2}"/>
              </a:ext>
            </a:extLst>
          </p:cNvPr>
          <p:cNvSpPr txBox="1"/>
          <p:nvPr/>
        </p:nvSpPr>
        <p:spPr>
          <a:xfrm>
            <a:off x="5803815" y="389784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CD59D0-DA43-34F8-91A1-71AA8F0E7F4F}"/>
              </a:ext>
            </a:extLst>
          </p:cNvPr>
          <p:cNvSpPr/>
          <p:nvPr/>
        </p:nvSpPr>
        <p:spPr>
          <a:xfrm>
            <a:off x="5537612" y="1321765"/>
            <a:ext cx="785640" cy="139661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E4C160-AD90-CADB-B5F3-5292EAC8EC45}"/>
              </a:ext>
            </a:extLst>
          </p:cNvPr>
          <p:cNvSpPr/>
          <p:nvPr/>
        </p:nvSpPr>
        <p:spPr>
          <a:xfrm>
            <a:off x="5555574" y="2832483"/>
            <a:ext cx="785640" cy="142207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CF0B519-A1A5-B79F-EFC8-61F8F624992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75903"/>
          <a:stretch>
            <a:fillRect/>
          </a:stretch>
        </p:blipFill>
        <p:spPr>
          <a:xfrm>
            <a:off x="5628056" y="2421204"/>
            <a:ext cx="690718" cy="1369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D448BF7-27F8-F5C9-EEFA-A345A7D70ACE}"/>
              </a:ext>
            </a:extLst>
          </p:cNvPr>
          <p:cNvSpPr txBox="1"/>
          <p:nvPr/>
        </p:nvSpPr>
        <p:spPr>
          <a:xfrm>
            <a:off x="3895180" y="1115722"/>
            <a:ext cx="519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fault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B80D26-3040-A163-5600-B97E08346385}"/>
              </a:ext>
            </a:extLst>
          </p:cNvPr>
          <p:cNvSpPr txBox="1"/>
          <p:nvPr/>
        </p:nvSpPr>
        <p:spPr>
          <a:xfrm>
            <a:off x="3846225" y="2787580"/>
            <a:ext cx="466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fold</a:t>
            </a:r>
          </a:p>
        </p:txBody>
      </p:sp>
    </p:spTree>
    <p:extLst>
      <p:ext uri="{BB962C8B-B14F-4D97-AF65-F5344CB8AC3E}">
        <p14:creationId xmlns:p14="http://schemas.microsoft.com/office/powerpoint/2010/main" val="1000959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ACE2E-5045-F0D8-D80B-B5316884E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A3BD88B-CD9D-EF0A-D796-C56880B78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sz="2800" dirty="0"/>
              <a:t>But what about my favourite metaheuristic optimiser?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475D9D-C8C6-0751-4402-ADA63F2AD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366" y="957138"/>
            <a:ext cx="4060701" cy="34168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6B08FA-6350-4847-B2E3-7E74A6B8866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830"/>
          <a:stretch/>
        </p:blipFill>
        <p:spPr>
          <a:xfrm>
            <a:off x="684145" y="3718563"/>
            <a:ext cx="3743839" cy="547371"/>
          </a:xfrm>
          <a:prstGeom prst="rect">
            <a:avLst/>
          </a:prstGeom>
        </p:spPr>
      </p:pic>
      <p:pic>
        <p:nvPicPr>
          <p:cNvPr id="18" name="Picture 17" descr="A green and yellow chart with black dots and numbers&#10;&#10;Description automatically generated">
            <a:extLst>
              <a:ext uri="{FF2B5EF4-FFF2-40B4-BE49-F238E27FC236}">
                <a16:creationId xmlns:a16="http://schemas.microsoft.com/office/drawing/2014/main" id="{022D8AC0-7483-F3A0-4B1D-94A07BE5F2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116" y="865670"/>
            <a:ext cx="2574032" cy="2574032"/>
          </a:xfrm>
          <a:prstGeom prst="rect">
            <a:avLst/>
          </a:prstGeom>
        </p:spPr>
      </p:pic>
      <p:pic>
        <p:nvPicPr>
          <p:cNvPr id="22" name="Picture 21" descr="A green and yellow chart with black dots&#10;&#10;Description automatically generated">
            <a:extLst>
              <a:ext uri="{FF2B5EF4-FFF2-40B4-BE49-F238E27FC236}">
                <a16:creationId xmlns:a16="http://schemas.microsoft.com/office/drawing/2014/main" id="{880C4C3E-671D-C20B-CFF6-ED9E6657BB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436" y="1799914"/>
            <a:ext cx="2466020" cy="2466020"/>
          </a:xfrm>
          <a:prstGeom prst="rect">
            <a:avLst/>
          </a:prstGeom>
        </p:spPr>
      </p:pic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6D49928A-89C9-73B1-0125-15AED2AA4A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4</a:t>
            </a:fld>
            <a:r>
              <a:rPr lang="en-AU" dirty="0"/>
              <a:t> </a:t>
            </a:r>
          </a:p>
        </p:txBody>
      </p:sp>
      <p:pic>
        <p:nvPicPr>
          <p:cNvPr id="6" name="Picture 5" descr="A qr code with a few squares&#10;&#10;Description automatically generated">
            <a:extLst>
              <a:ext uri="{FF2B5EF4-FFF2-40B4-BE49-F238E27FC236}">
                <a16:creationId xmlns:a16="http://schemas.microsoft.com/office/drawing/2014/main" id="{B2C9062F-75DE-5A11-AEFA-288BB4D831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5234" y="17345"/>
            <a:ext cx="771550" cy="7715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72F21E-53D9-1CB0-7C76-C99A0FFBF935}"/>
              </a:ext>
            </a:extLst>
          </p:cNvPr>
          <p:cNvSpPr txBox="1"/>
          <p:nvPr/>
        </p:nvSpPr>
        <p:spPr>
          <a:xfrm>
            <a:off x="4752522" y="3591882"/>
            <a:ext cx="1474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www.inlab.au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AF5F36-AEC2-8EEB-4E29-7B2FD35D2563}"/>
              </a:ext>
            </a:extLst>
          </p:cNvPr>
          <p:cNvSpPr txBox="1"/>
          <p:nvPr/>
        </p:nvSpPr>
        <p:spPr>
          <a:xfrm>
            <a:off x="5585238" y="773341"/>
            <a:ext cx="23845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Border Collie Optimization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2B561E3-1966-4097-0C9D-E9427C57F65B}"/>
              </a:ext>
            </a:extLst>
          </p:cNvPr>
          <p:cNvCxnSpPr>
            <a:cxnSpLocks/>
          </p:cNvCxnSpPr>
          <p:nvPr/>
        </p:nvCxnSpPr>
        <p:spPr>
          <a:xfrm flipH="1">
            <a:off x="8028384" y="1923678"/>
            <a:ext cx="326850" cy="74720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D527BE3-2CA9-0E6B-139D-2CC94D7CA454}"/>
              </a:ext>
            </a:extLst>
          </p:cNvPr>
          <p:cNvSpPr txBox="1"/>
          <p:nvPr/>
        </p:nvSpPr>
        <p:spPr>
          <a:xfrm>
            <a:off x="7666975" y="1630013"/>
            <a:ext cx="1225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Global minimum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1F3D55-517E-8FF3-127C-AA2275ED55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7137" y="4545819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934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72A9-408A-3A06-57AF-12B09DB27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6F1AE4-36BD-D9BE-0651-7D5324594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sz="2800" dirty="0"/>
              <a:t>Wrap up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C34EAE-85BB-03D5-17CA-C8366B91BA15}"/>
              </a:ext>
            </a:extLst>
          </p:cNvPr>
          <p:cNvSpPr txBox="1"/>
          <p:nvPr/>
        </p:nvSpPr>
        <p:spPr>
          <a:xfrm>
            <a:off x="383715" y="1173182"/>
            <a:ext cx="864096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Feedback:</a:t>
            </a:r>
          </a:p>
          <a:p>
            <a:pPr lvl="1"/>
            <a:r>
              <a:rPr lang="en-US" dirty="0"/>
              <a:t>Choosing priorities: Expanding the methods; the examples, building a community;</a:t>
            </a:r>
          </a:p>
          <a:p>
            <a:pPr lvl="1"/>
            <a:br>
              <a:rPr lang="en-US" dirty="0"/>
            </a:br>
            <a:r>
              <a:rPr lang="en-US" dirty="0"/>
              <a:t>Wishlist includes: scalability (HPC); new examples; automatic differentiation, Surrogate modelling. Link to new optimization and sampling packages…</a:t>
            </a:r>
          </a:p>
          <a:p>
            <a:endParaRPr lang="en-US" dirty="0"/>
          </a:p>
          <a:p>
            <a:r>
              <a:rPr lang="en-US" dirty="0"/>
              <a:t>Work with us &amp; get involved:</a:t>
            </a:r>
          </a:p>
          <a:p>
            <a:pPr lvl="1"/>
            <a:r>
              <a:rPr lang="en-AU" dirty="0"/>
              <a:t>c</a:t>
            </a:r>
            <a:r>
              <a:rPr lang="en-AU" dirty="0">
                <a:effectLst/>
              </a:rPr>
              <a:t>reating an application example using </a:t>
            </a:r>
            <a:r>
              <a:rPr lang="en-AU" dirty="0" err="1">
                <a:effectLst/>
              </a:rPr>
              <a:t>CoFI</a:t>
            </a:r>
            <a:r>
              <a:rPr lang="en-AU" dirty="0">
                <a:effectLst/>
              </a:rPr>
              <a:t> </a:t>
            </a:r>
          </a:p>
          <a:p>
            <a:endParaRPr lang="en-US" dirty="0"/>
          </a:p>
          <a:p>
            <a:r>
              <a:rPr lang="en-US" dirty="0"/>
              <a:t>join our slack community: 		raise an issue on </a:t>
            </a:r>
            <a:r>
              <a:rPr lang="en-US" dirty="0" err="1"/>
              <a:t>github</a:t>
            </a:r>
            <a:r>
              <a:rPr lang="en-US" dirty="0"/>
              <a:t>:</a:t>
            </a:r>
          </a:p>
          <a:p>
            <a:r>
              <a:rPr lang="en-US" dirty="0">
                <a:effectLst/>
              </a:rPr>
              <a:t>    </a:t>
            </a:r>
            <a:r>
              <a:rPr lang="en-AU" dirty="0">
                <a:effectLst/>
              </a:rPr>
              <a:t>http://</a:t>
            </a:r>
            <a:r>
              <a:rPr lang="en-AU" dirty="0" err="1">
                <a:effectLst/>
              </a:rPr>
              <a:t>inlab.au</a:t>
            </a:r>
            <a:r>
              <a:rPr lang="en-AU" dirty="0">
                <a:effectLst/>
              </a:rPr>
              <a:t>/community </a:t>
            </a:r>
            <a:r>
              <a:rPr lang="en-AU" dirty="0"/>
              <a:t>	    https://</a:t>
            </a:r>
            <a:r>
              <a:rPr lang="en-AU" dirty="0" err="1"/>
              <a:t>github.com</a:t>
            </a:r>
            <a:r>
              <a:rPr lang="en-AU" dirty="0"/>
              <a:t>/</a:t>
            </a:r>
            <a:r>
              <a:rPr lang="en-AU" dirty="0" err="1"/>
              <a:t>inlab</a:t>
            </a:r>
            <a:r>
              <a:rPr lang="en-AU" dirty="0"/>
              <a:t>-geo/</a:t>
            </a:r>
            <a:r>
              <a:rPr lang="en-AU" dirty="0" err="1"/>
              <a:t>cofi</a:t>
            </a:r>
            <a:r>
              <a:rPr lang="en-AU" dirty="0"/>
              <a:t>/issues</a:t>
            </a:r>
            <a:endParaRPr lang="en-AU" dirty="0">
              <a:effectLst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D519A5-5186-0432-5EB2-EF4AFE5B4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137" y="4545819"/>
            <a:ext cx="1440160" cy="585431"/>
          </a:xfrm>
          <a:prstGeom prst="rect">
            <a:avLst/>
          </a:prstGeom>
        </p:spPr>
      </p:pic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FD9A1DDA-41B3-525C-0539-89B1BF5950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5</a:t>
            </a:fld>
            <a:r>
              <a:rPr lang="en-AU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B02A91-3B90-0307-B8B8-17EB2BB6EC11}"/>
              </a:ext>
            </a:extLst>
          </p:cNvPr>
          <p:cNvSpPr txBox="1"/>
          <p:nvPr/>
        </p:nvSpPr>
        <p:spPr>
          <a:xfrm>
            <a:off x="1979712" y="651193"/>
            <a:ext cx="66213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This is an </a:t>
            </a:r>
            <a:r>
              <a:rPr lang="en-US" sz="3200" b="1" dirty="0">
                <a:solidFill>
                  <a:srgbClr val="C00000"/>
                </a:solidFill>
              </a:rPr>
              <a:t>open source </a:t>
            </a:r>
            <a:r>
              <a:rPr lang="en-US" sz="3200" dirty="0">
                <a:solidFill>
                  <a:srgbClr val="C00000"/>
                </a:solidFill>
              </a:rPr>
              <a:t>project</a:t>
            </a:r>
          </a:p>
        </p:txBody>
      </p:sp>
    </p:spTree>
    <p:extLst>
      <p:ext uri="{BB962C8B-B14F-4D97-AF65-F5344CB8AC3E}">
        <p14:creationId xmlns:p14="http://schemas.microsoft.com/office/powerpoint/2010/main" val="1110601287"/>
      </p:ext>
    </p:extLst>
  </p:cSld>
  <p:clrMapOvr>
    <a:masterClrMapping/>
  </p:clrMapOvr>
</p:sld>
</file>

<file path=ppt/theme/theme1.xml><?xml version="1.0" encoding="utf-8"?>
<a:theme xmlns:a="http://schemas.openxmlformats.org/drawingml/2006/main" name="CSIRO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4E4DF566-B70F-4928-80E7-694B9E9A2FBD}"/>
    </a:ext>
  </a:extLst>
</a:theme>
</file>

<file path=ppt/theme/theme2.xml><?xml version="1.0" encoding="utf-8"?>
<a:theme xmlns:a="http://schemas.openxmlformats.org/drawingml/2006/main" name="Data61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0398C969-54DD-46EF-89D3-EBAEE5270F10}"/>
    </a:ext>
  </a:extLst>
</a:theme>
</file>

<file path=ppt/theme/theme3.xml><?xml version="1.0" encoding="utf-8"?>
<a:theme xmlns:a="http://schemas.openxmlformats.org/drawingml/2006/main" name="Data61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83853432-11B4-49DC-8E1B-8FA6CFB2F4E0}"/>
    </a:ext>
  </a:extLst>
</a:theme>
</file>

<file path=ppt/theme/theme4.xml><?xml version="1.0" encoding="utf-8"?>
<a:theme xmlns:a="http://schemas.openxmlformats.org/drawingml/2006/main" name="MNF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02E87599-44C4-42C3-BED7-5FF59534C5EF}"/>
    </a:ext>
  </a:extLst>
</a:theme>
</file>

<file path=ppt/theme/theme5.xml><?xml version="1.0" encoding="utf-8"?>
<a:theme xmlns:a="http://schemas.openxmlformats.org/drawingml/2006/main" name="MNF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1D630F70-31C1-47EA-9A5C-0993FCC783EC}"/>
    </a:ext>
  </a:extLst>
</a:theme>
</file>

<file path=ppt/theme/theme6.xml><?xml version="1.0" encoding="utf-8"?>
<a:theme xmlns:a="http://schemas.openxmlformats.org/drawingml/2006/main" name="Wordmark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5D5CE2B9-9AB1-444B-84B0-F100492FB77D}"/>
    </a:ext>
  </a:extLst>
</a:theme>
</file>

<file path=ppt/theme/theme7.xml><?xml version="1.0" encoding="utf-8"?>
<a:theme xmlns:a="http://schemas.openxmlformats.org/drawingml/2006/main" name="Wordmark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28CA8483-C027-4DC1-BB4B-A94F6F059FFD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CSIRO vertical</Template>
  <TotalTime>951</TotalTime>
  <Words>415</Words>
  <Application>Microsoft Macintosh PowerPoint</Application>
  <PresentationFormat>On-screen Show (16:9)</PresentationFormat>
  <Paragraphs>67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Arial</vt:lpstr>
      <vt:lpstr>Calibri</vt:lpstr>
      <vt:lpstr>system-ui</vt:lpstr>
      <vt:lpstr>CSIRO horizontal</vt:lpstr>
      <vt:lpstr>Data61 vertical</vt:lpstr>
      <vt:lpstr>Data61 horizontal</vt:lpstr>
      <vt:lpstr>MNF vertical</vt:lpstr>
      <vt:lpstr>MNF horizontal</vt:lpstr>
      <vt:lpstr>Wordmark vertical</vt:lpstr>
      <vt:lpstr>Wordmark horizontal</vt:lpstr>
      <vt:lpstr>Beyond this meeting</vt:lpstr>
      <vt:lpstr>Scalable CoFI…</vt:lpstr>
      <vt:lpstr>Beyond trans-dimensional sampling</vt:lpstr>
      <vt:lpstr>But what about my favourite metaheuristic optimiser?</vt:lpstr>
      <vt:lpstr>Wrap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Hauser, Juerg (Mineral Resources, Black Mountain)</dc:creator>
  <cp:lastModifiedBy>Juerg Hauser</cp:lastModifiedBy>
  <cp:revision>132</cp:revision>
  <cp:lastPrinted>2024-02-06T05:29:14Z</cp:lastPrinted>
  <dcterms:created xsi:type="dcterms:W3CDTF">2024-01-02T22:42:33Z</dcterms:created>
  <dcterms:modified xsi:type="dcterms:W3CDTF">2025-10-27T02:45:03Z</dcterms:modified>
</cp:coreProperties>
</file>