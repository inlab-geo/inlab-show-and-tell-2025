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4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5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6.xml" ContentType="application/vnd.openxmlformats-officedocument.theme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  <p:sldMasterId id="2147483745" r:id="rId2"/>
    <p:sldMasterId id="2147483765" r:id="rId3"/>
    <p:sldMasterId id="2147483781" r:id="rId4"/>
    <p:sldMasterId id="2147483801" r:id="rId5"/>
    <p:sldMasterId id="2147483709" r:id="rId6"/>
    <p:sldMasterId id="2147483729" r:id="rId7"/>
  </p:sldMasterIdLst>
  <p:notesMasterIdLst>
    <p:notesMasterId r:id="rId12"/>
  </p:notesMasterIdLst>
  <p:handoutMasterIdLst>
    <p:handoutMasterId r:id="rId13"/>
  </p:handoutMasterIdLst>
  <p:sldIdLst>
    <p:sldId id="18698" r:id="rId8"/>
    <p:sldId id="18696" r:id="rId9"/>
    <p:sldId id="18691" r:id="rId10"/>
    <p:sldId id="18697" r:id="rId11"/>
  </p:sldIdLst>
  <p:sldSz cx="9144000" cy="5143500" type="screen16x9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599">
          <p15:clr>
            <a:srgbClr val="A4A3A4"/>
          </p15:clr>
        </p15:guide>
        <p15:guide id="3" pos="2880">
          <p15:clr>
            <a:srgbClr val="A4A3A4"/>
          </p15:clr>
        </p15:guide>
        <p15:guide id="4" pos="5602" userDrawn="1">
          <p15:clr>
            <a:srgbClr val="A4A3A4"/>
          </p15:clr>
        </p15:guide>
        <p15:guide id="5" pos="1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A9CE"/>
    <a:srgbClr val="001D34"/>
    <a:srgbClr val="3D5D6B"/>
    <a:srgbClr val="007A53"/>
    <a:srgbClr val="004B87"/>
    <a:srgbClr val="DADBD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 autoAdjust="0"/>
    <p:restoredTop sz="96327" autoAdjust="0"/>
  </p:normalViewPr>
  <p:slideViewPr>
    <p:cSldViewPr showGuides="1">
      <p:cViewPr varScale="1">
        <p:scale>
          <a:sx n="153" d="100"/>
          <a:sy n="153" d="100"/>
        </p:scale>
        <p:origin x="1640" y="464"/>
      </p:cViewPr>
      <p:guideLst>
        <p:guide orient="horz" pos="1620"/>
        <p:guide orient="horz" pos="599"/>
        <p:guide pos="2880"/>
        <p:guide pos="5602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62" d="100"/>
        <a:sy n="162" d="100"/>
      </p:scale>
      <p:origin x="0" y="0"/>
    </p:cViewPr>
  </p:sorterViewPr>
  <p:notesViewPr>
    <p:cSldViewPr showGuides="1">
      <p:cViewPr varScale="1">
        <p:scale>
          <a:sx n="121" d="100"/>
          <a:sy n="121" d="100"/>
        </p:scale>
        <p:origin x="4938" y="11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A697C-5849-4DDF-A6C8-08E6893940F4}" type="datetimeFigureOut">
              <a:rPr lang="en-AU" smtClean="0"/>
              <a:pPr/>
              <a:t>29/6/2025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014AF-979A-46D9-9B43-4C67319580DA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44417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992BC2-9435-4D31-AEB3-5D5877AD6447}" type="datetimeFigureOut">
              <a:rPr lang="en-AU" smtClean="0"/>
              <a:pPr/>
              <a:t>29/6/2025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96215-5E4C-414D-A8DB-C38AA7CF7C2A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3183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E9F00-782E-F683-91E7-91D427DC7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067F01-6F55-F889-4B74-27AD30F91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1F15FD-998B-E448-DDD2-03A68B1F5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Horizon 1 – Overcomplete tomography represents a Horizon 1 concept in that it could in 3 years become part of established inversions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F3272-5C05-53A6-E9A5-CF91E2EB9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96215-5E4C-414D-A8DB-C38AA7CF7C2A}" type="slidenum">
              <a:rPr lang="en-AU" smtClean="0"/>
              <a:pPr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3753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7777E-87D8-6239-1864-980BB22B9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630476-AC50-1217-29A9-EBC511742F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28714E-FDBA-3E18-6CC9-7561C177F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Horizon 1 – Overcomplete tomography represents a Horizon 1 concept in that it could in 3 years become part of established inversions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0D298-F156-9AFB-A6C8-83B1F6DE2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96215-5E4C-414D-A8DB-C38AA7CF7C2A}" type="slidenum">
              <a:rPr lang="en-AU" smtClean="0"/>
              <a:pPr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3250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EA50B-99CC-76B9-9951-698F4D345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DF48D0-F7EB-8EE8-38F4-D6E61CA70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D8FC67-965E-B547-A857-283B19D8A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Horizon 1 – Overcomplete tomography represents a Horizon 1 concept in that it could in 3 years become part of established inversions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2E5CA-6DDB-B0C4-FE4D-24F79A905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96215-5E4C-414D-A8DB-C38AA7CF7C2A}" type="slidenum">
              <a:rPr lang="en-AU" smtClean="0"/>
              <a:pPr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5446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7777E-87D8-6239-1864-980BB22B9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630476-AC50-1217-29A9-EBC511742F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28714E-FDBA-3E18-6CC9-7561C177F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Horizon 1 – Overcomplete tomography represents a Horizon 1 concept in that it could in 3 years become part of established inversions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0D298-F156-9AFB-A6C8-83B1F6DE2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96215-5E4C-414D-A8DB-C38AA7CF7C2A}" type="slidenum">
              <a:rPr lang="en-AU" smtClean="0"/>
              <a:pPr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124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svg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7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20538"/>
            <a:ext cx="9144000" cy="25956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859782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4096622"/>
            <a:ext cx="720080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7" name="Rectangle 6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1552" y="4177358"/>
            <a:ext cx="720080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432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859782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4096622"/>
            <a:ext cx="720080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1552" y="4177358"/>
            <a:ext cx="720080" cy="720080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9162000" cy="25776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18110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partner log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20538"/>
            <a:ext cx="9144000" cy="25956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1203598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2922403"/>
            <a:ext cx="720080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7" name="Rectangle 6"/>
          <p:cNvSpPr/>
          <p:nvPr userDrawn="1"/>
        </p:nvSpPr>
        <p:spPr>
          <a:xfrm>
            <a:off x="6516216" y="582251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n-AU" sz="1000" dirty="0">
                <a:solidFill>
                  <a:schemeClr val="bg1"/>
                </a:solidFill>
              </a:rPr>
              <a:t>Australia’s National Science Agency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1520" y="267494"/>
            <a:ext cx="720080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040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96403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4257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360000"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23933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131590"/>
            <a:ext cx="8640958" cy="3070944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1850" y="267494"/>
            <a:ext cx="8630630" cy="6399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accent3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2200" b="0">
                <a:solidFill>
                  <a:schemeClr val="accent2"/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41686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131590"/>
            <a:ext cx="4038600" cy="33123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4295" y="1131590"/>
            <a:ext cx="4038600" cy="33123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5066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4416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04656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74488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ayou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55556648-49D5-4B5B-92D5-2DB59DEB59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9162000" cy="25776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51520" y="2859782"/>
            <a:ext cx="7920880" cy="2016224"/>
          </a:xfr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buFontTx/>
              <a:buNone/>
              <a:defRPr sz="4000" b="0">
                <a:solidFill>
                  <a:schemeClr val="accent3"/>
                </a:solidFill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None/>
              <a:defRPr sz="4000" b="0">
                <a:solidFill>
                  <a:schemeClr val="accent2"/>
                </a:solidFill>
              </a:defRPr>
            </a:lvl2pPr>
            <a:lvl3pPr marL="0" indent="0">
              <a:spcBef>
                <a:spcPts val="2200"/>
              </a:spcBef>
              <a:buNone/>
              <a:defRPr b="1">
                <a:solidFill>
                  <a:srgbClr val="00313C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84338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51520" y="1131590"/>
            <a:ext cx="7200800" cy="36004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Tx/>
              <a:buNone/>
              <a:defRPr sz="4400" b="0">
                <a:solidFill>
                  <a:schemeClr val="accent1"/>
                </a:solidFill>
              </a:defRPr>
            </a:lvl1pPr>
            <a:lvl2pPr marL="0" indent="0">
              <a:lnSpc>
                <a:spcPct val="75000"/>
              </a:lnSpc>
              <a:spcAft>
                <a:spcPts val="850"/>
              </a:spcAft>
              <a:buNone/>
              <a:defRPr sz="4400" b="0">
                <a:solidFill>
                  <a:schemeClr val="bg1"/>
                </a:solidFill>
              </a:defRPr>
            </a:lvl2pPr>
            <a:lvl3pPr marL="0" indent="0">
              <a:buNone/>
              <a:defRPr sz="2200" b="1">
                <a:solidFill>
                  <a:srgbClr val="FFFFFF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726317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>
          <a:xfrm>
            <a:off x="0" y="0"/>
            <a:ext cx="9144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3579862"/>
            <a:ext cx="6048672" cy="1008112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tx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251521" y="2715766"/>
            <a:ext cx="6048671" cy="576064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44" name="Rectangle 43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1552" y="4177358"/>
            <a:ext cx="720080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8952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3075806"/>
            <a:ext cx="7200800" cy="1623109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tx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D2A108-B854-40BC-AA72-4E9E7C74E5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1552" y="4177358"/>
            <a:ext cx="720080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666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1779662"/>
            <a:ext cx="3600400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3651870"/>
            <a:ext cx="3600400" cy="576064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4" name="Rectangle 3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28AE86-1CD5-4E73-826D-CE2783C6AC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9" y="267494"/>
            <a:ext cx="152274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322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5602">
          <p15:clr>
            <a:srgbClr val="FBAE40"/>
          </p15:clr>
        </p15:guide>
        <p15:guide id="4" pos="15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1779662"/>
            <a:ext cx="3600400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3651870"/>
            <a:ext cx="3600400" cy="576064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71999" y="0"/>
            <a:ext cx="4563963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293303-2843-4D52-97D9-AF77676C9C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9" y="267494"/>
            <a:ext cx="152274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14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2880">
          <p15:clr>
            <a:srgbClr val="FBAE40"/>
          </p15:clr>
        </p15:guide>
        <p15:guide id="4" pos="560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globe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054777"/>
            <a:ext cx="2016224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920DF2-0C7F-4A3B-9BAF-D692009CA0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9" y="267494"/>
            <a:ext cx="1522745" cy="72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2589A1-48A8-4C4C-9006-4BAA8009E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13687" y="413437"/>
            <a:ext cx="4316625" cy="431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270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5602">
          <p15:clr>
            <a:srgbClr val="FBAE40"/>
          </p15:clr>
        </p15:guide>
        <p15:guide id="4" pos="15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069083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115323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360000"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2665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707654"/>
            <a:ext cx="8640958" cy="3024336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1850" y="843558"/>
            <a:ext cx="8630630" cy="6399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accent3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2200" b="0">
                <a:solidFill>
                  <a:schemeClr val="accent2"/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11801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4295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973959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cataly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805458"/>
            <a:ext cx="4038600" cy="6393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1371" y="4878250"/>
            <a:ext cx="3688750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554827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catalys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805458"/>
            <a:ext cx="4038600" cy="6393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665854"/>
            <a:ext cx="4038600" cy="3066136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1371" y="4878250"/>
            <a:ext cx="3688750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83587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+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71999" y="0"/>
            <a:ext cx="4563963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550788"/>
            <a:ext cx="4032446" cy="318120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805458"/>
            <a:ext cx="4032448" cy="6393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601371" y="4878250"/>
            <a:ext cx="3682598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04247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+ quart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853836" y="0"/>
            <a:ext cx="2282400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550788"/>
            <a:ext cx="6336702" cy="318120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805458"/>
            <a:ext cx="6336704" cy="6393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601370" y="4878250"/>
            <a:ext cx="5986853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533576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625945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82742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30666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17B52948-05FD-444E-9ADC-BA5285595A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1999" y="0"/>
            <a:ext cx="4563963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51520" y="1851670"/>
            <a:ext cx="3960440" cy="2525068"/>
          </a:xfrm>
        </p:spPr>
        <p:txBody>
          <a:bodyPr/>
          <a:lstStyle>
            <a:lvl1pPr marL="0" indent="0">
              <a:lnSpc>
                <a:spcPct val="85000"/>
              </a:lnSpc>
              <a:spcAft>
                <a:spcPts val="0"/>
              </a:spcAft>
              <a:buFontTx/>
              <a:buNone/>
              <a:defRPr sz="4000" b="0">
                <a:solidFill>
                  <a:schemeClr val="accent3"/>
                </a:solidFill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None/>
              <a:defRPr sz="4000" b="0">
                <a:solidFill>
                  <a:schemeClr val="accent2"/>
                </a:solidFill>
              </a:defRPr>
            </a:lvl2pPr>
            <a:lvl3pPr marL="0" indent="0">
              <a:spcBef>
                <a:spcPts val="2200"/>
              </a:spcBef>
              <a:buNone/>
              <a:defRPr b="1">
                <a:solidFill>
                  <a:srgbClr val="00313C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828722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51520" y="1275605"/>
            <a:ext cx="7056784" cy="2736305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Tx/>
              <a:buNone/>
              <a:defRPr sz="4400" b="0">
                <a:solidFill>
                  <a:schemeClr val="accent1"/>
                </a:solidFill>
              </a:defRPr>
            </a:lvl1pPr>
            <a:lvl2pPr marL="0" indent="0">
              <a:lnSpc>
                <a:spcPct val="75000"/>
              </a:lnSpc>
              <a:spcAft>
                <a:spcPts val="850"/>
              </a:spcAft>
              <a:buNone/>
              <a:defRPr sz="4400" b="0">
                <a:solidFill>
                  <a:schemeClr val="bg1"/>
                </a:solidFill>
              </a:defRPr>
            </a:lvl2pPr>
            <a:lvl3pPr marL="0" indent="0">
              <a:buNone/>
              <a:defRPr sz="2200" b="1">
                <a:solidFill>
                  <a:srgbClr val="FFFFFF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4584692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2571750"/>
            <a:ext cx="3600400" cy="2160240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tabLst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tabLst/>
              <a:defRPr sz="1600">
                <a:solidFill>
                  <a:schemeClr val="tx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tabLst/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251521" y="915566"/>
            <a:ext cx="3600399" cy="1440160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Rectangle 43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54D81D-7CFA-4E8D-924E-F049F52C1B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9" y="267494"/>
            <a:ext cx="152274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700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1851670"/>
            <a:ext cx="3600400" cy="2847245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tabLst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tabLst/>
              <a:defRPr sz="1600">
                <a:solidFill>
                  <a:schemeClr val="tx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tabLst/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 28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36676"/>
            <a:ext cx="3672408" cy="6393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F62FF1-8277-4CEC-A22F-7E8130E254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9" y="267494"/>
            <a:ext cx="152274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568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20538"/>
            <a:ext cx="9144000" cy="25956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859782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4096622"/>
            <a:ext cx="684076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7" name="Rectangle 6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785B6E-E88B-43F0-AF0F-FE873692AB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887" y="4177438"/>
            <a:ext cx="152274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032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859782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4096622"/>
            <a:ext cx="684076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7" name="Rectangle 6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9162000" cy="25776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FF943A-2EFE-4939-9416-AA45E8893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887" y="4177438"/>
            <a:ext cx="152274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641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partner log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20538"/>
            <a:ext cx="9144000" cy="25956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1203598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2922403"/>
            <a:ext cx="720080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7" name="Rectangle 6"/>
          <p:cNvSpPr/>
          <p:nvPr userDrawn="1"/>
        </p:nvSpPr>
        <p:spPr>
          <a:xfrm>
            <a:off x="6516216" y="582251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n-AU" sz="1000" dirty="0">
                <a:solidFill>
                  <a:schemeClr val="bg1"/>
                </a:solidFill>
              </a:rPr>
              <a:t>Australia’s National Science Agency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A196B7-7271-40B8-B951-8FDD29916E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67494"/>
            <a:ext cx="152274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278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1746455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1124826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360000"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587599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131590"/>
            <a:ext cx="8640958" cy="3070944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1850" y="267494"/>
            <a:ext cx="8630630" cy="6399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accent3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2200" b="0">
                <a:solidFill>
                  <a:schemeClr val="accent2"/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481746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131590"/>
            <a:ext cx="4038600" cy="33123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4295" y="1131590"/>
            <a:ext cx="4038600" cy="33123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181558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84997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19441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063824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ayou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55556648-49D5-4B5B-92D5-2DB59DEB59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9162000" cy="25776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51520" y="2859782"/>
            <a:ext cx="7920880" cy="2016224"/>
          </a:xfr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buFontTx/>
              <a:buNone/>
              <a:defRPr sz="4000" b="0">
                <a:solidFill>
                  <a:schemeClr val="accent3"/>
                </a:solidFill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None/>
              <a:defRPr sz="4000" b="0">
                <a:solidFill>
                  <a:schemeClr val="accent2"/>
                </a:solidFill>
              </a:defRPr>
            </a:lvl2pPr>
            <a:lvl3pPr marL="0" indent="0">
              <a:spcBef>
                <a:spcPts val="2200"/>
              </a:spcBef>
              <a:buNone/>
              <a:defRPr b="1">
                <a:solidFill>
                  <a:srgbClr val="00313C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006384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51520" y="1131590"/>
            <a:ext cx="7200800" cy="36004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Tx/>
              <a:buNone/>
              <a:defRPr sz="4400" b="0">
                <a:solidFill>
                  <a:schemeClr val="accent1"/>
                </a:solidFill>
              </a:defRPr>
            </a:lvl1pPr>
            <a:lvl2pPr marL="0" indent="0">
              <a:lnSpc>
                <a:spcPct val="75000"/>
              </a:lnSpc>
              <a:spcAft>
                <a:spcPts val="850"/>
              </a:spcAft>
              <a:buNone/>
              <a:defRPr sz="4400" b="0">
                <a:solidFill>
                  <a:schemeClr val="bg1"/>
                </a:solidFill>
              </a:defRPr>
            </a:lvl2pPr>
            <a:lvl3pPr marL="0" indent="0">
              <a:buNone/>
              <a:defRPr sz="2200" b="1">
                <a:solidFill>
                  <a:srgbClr val="FFFFFF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984940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>
          <a:xfrm>
            <a:off x="0" y="0"/>
            <a:ext cx="9144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3579862"/>
            <a:ext cx="6048672" cy="1008112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tx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251521" y="2715766"/>
            <a:ext cx="6048671" cy="576064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44" name="Rectangle 43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6DC4BE-CEEE-431B-9F14-9C57722140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887" y="4177438"/>
            <a:ext cx="152274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11303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3075806"/>
            <a:ext cx="6984776" cy="1623109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tx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794113-D310-44FA-B463-B20C679AB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887" y="4177438"/>
            <a:ext cx="152274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22167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1779662"/>
            <a:ext cx="3600400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3651870"/>
            <a:ext cx="3600400" cy="576064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4" name="Rectangle 3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E31894D-BB7F-4DA8-8D6C-C5A7A751E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519" y="267494"/>
            <a:ext cx="2731182" cy="684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711503A-192E-4575-80CF-A393277570CC}"/>
              </a:ext>
            </a:extLst>
          </p:cNvPr>
          <p:cNvSpPr/>
          <p:nvPr userDrawn="1"/>
        </p:nvSpPr>
        <p:spPr>
          <a:xfrm>
            <a:off x="251520" y="4711673"/>
            <a:ext cx="30243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Operated by CSIRO, Australia’s National Science Agency,</a:t>
            </a:r>
          </a:p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on behalf of the nation</a:t>
            </a:r>
          </a:p>
        </p:txBody>
      </p:sp>
    </p:spTree>
    <p:extLst>
      <p:ext uri="{BB962C8B-B14F-4D97-AF65-F5344CB8AC3E}">
        <p14:creationId xmlns:p14="http://schemas.microsoft.com/office/powerpoint/2010/main" val="2195934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5602">
          <p15:clr>
            <a:srgbClr val="FBAE40"/>
          </p15:clr>
        </p15:guide>
        <p15:guide id="4" pos="158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1779662"/>
            <a:ext cx="3600400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3651870"/>
            <a:ext cx="3600400" cy="576064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71999" y="0"/>
            <a:ext cx="4563963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3F349AB-7817-4CF8-9EFC-2CD503B23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519" y="267494"/>
            <a:ext cx="2731182" cy="684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BB22E12-9556-46D6-9897-3CA8F81E5AF4}"/>
              </a:ext>
            </a:extLst>
          </p:cNvPr>
          <p:cNvSpPr/>
          <p:nvPr userDrawn="1"/>
        </p:nvSpPr>
        <p:spPr>
          <a:xfrm>
            <a:off x="251520" y="4711673"/>
            <a:ext cx="30243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Operated by CSIRO, Australia’s National Science Agency,</a:t>
            </a:r>
          </a:p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on behalf of the nation</a:t>
            </a:r>
          </a:p>
        </p:txBody>
      </p:sp>
    </p:spTree>
    <p:extLst>
      <p:ext uri="{BB962C8B-B14F-4D97-AF65-F5344CB8AC3E}">
        <p14:creationId xmlns:p14="http://schemas.microsoft.com/office/powerpoint/2010/main" val="1222376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2880">
          <p15:clr>
            <a:srgbClr val="FBAE40"/>
          </p15:clr>
        </p15:guide>
        <p15:guide id="4" pos="5602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globe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054777"/>
            <a:ext cx="2016224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2589A1-48A8-4C4C-9006-4BAA8009E4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13687" y="413437"/>
            <a:ext cx="4316625" cy="431662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2EE9FCB-7566-4817-BC3E-151216DAC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519" y="267494"/>
            <a:ext cx="2731182" cy="684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7F65CF7-BE56-42AE-89A3-8632383904C9}"/>
              </a:ext>
            </a:extLst>
          </p:cNvPr>
          <p:cNvSpPr/>
          <p:nvPr userDrawn="1"/>
        </p:nvSpPr>
        <p:spPr>
          <a:xfrm>
            <a:off x="251520" y="4711673"/>
            <a:ext cx="30243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Operated by CSIRO, Australia’s National Science Agency,</a:t>
            </a:r>
          </a:p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on behalf of the nation</a:t>
            </a:r>
          </a:p>
        </p:txBody>
      </p:sp>
    </p:spTree>
    <p:extLst>
      <p:ext uri="{BB962C8B-B14F-4D97-AF65-F5344CB8AC3E}">
        <p14:creationId xmlns:p14="http://schemas.microsoft.com/office/powerpoint/2010/main" val="3513602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5602">
          <p15:clr>
            <a:srgbClr val="FBAE40"/>
          </p15:clr>
        </p15:guide>
        <p15:guide id="4" pos="158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847982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5788638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360000"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85501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707654"/>
            <a:ext cx="8640958" cy="3024336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1850" y="843558"/>
            <a:ext cx="8630630" cy="6399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accent3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2200" b="0">
                <a:solidFill>
                  <a:schemeClr val="accent2"/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8150668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4295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495822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cataly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805458"/>
            <a:ext cx="4038600" cy="6393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1371" y="4878250"/>
            <a:ext cx="3688750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073317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catalys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805458"/>
            <a:ext cx="4038600" cy="6393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665854"/>
            <a:ext cx="4038600" cy="3066136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1371" y="4878250"/>
            <a:ext cx="3688750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0140729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+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71999" y="0"/>
            <a:ext cx="4563963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550788"/>
            <a:ext cx="4032446" cy="318120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805458"/>
            <a:ext cx="4032448" cy="6393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601371" y="4878250"/>
            <a:ext cx="3682598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9032678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+ quart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853836" y="0"/>
            <a:ext cx="2282400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550788"/>
            <a:ext cx="6336702" cy="318120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805458"/>
            <a:ext cx="6336704" cy="6393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601370" y="4878250"/>
            <a:ext cx="5986853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4840736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759228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324963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7384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17B52948-05FD-444E-9ADC-BA5285595A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1999" y="0"/>
            <a:ext cx="4563963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51520" y="1851670"/>
            <a:ext cx="3960440" cy="2525068"/>
          </a:xfrm>
        </p:spPr>
        <p:txBody>
          <a:bodyPr/>
          <a:lstStyle>
            <a:lvl1pPr marL="0" indent="0">
              <a:lnSpc>
                <a:spcPct val="85000"/>
              </a:lnSpc>
              <a:spcAft>
                <a:spcPts val="0"/>
              </a:spcAft>
              <a:buFontTx/>
              <a:buNone/>
              <a:defRPr sz="4000" b="0">
                <a:solidFill>
                  <a:schemeClr val="accent3"/>
                </a:solidFill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None/>
              <a:defRPr sz="4000" b="0">
                <a:solidFill>
                  <a:schemeClr val="accent2"/>
                </a:solidFill>
              </a:defRPr>
            </a:lvl2pPr>
            <a:lvl3pPr marL="0" indent="0">
              <a:spcBef>
                <a:spcPts val="2200"/>
              </a:spcBef>
              <a:buNone/>
              <a:defRPr b="1">
                <a:solidFill>
                  <a:srgbClr val="00313C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6008783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51520" y="1275605"/>
            <a:ext cx="7056784" cy="2736305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Tx/>
              <a:buNone/>
              <a:defRPr sz="4400" b="0">
                <a:solidFill>
                  <a:schemeClr val="accent1"/>
                </a:solidFill>
              </a:defRPr>
            </a:lvl1pPr>
            <a:lvl2pPr marL="0" indent="0">
              <a:lnSpc>
                <a:spcPct val="75000"/>
              </a:lnSpc>
              <a:spcAft>
                <a:spcPts val="850"/>
              </a:spcAft>
              <a:buNone/>
              <a:defRPr sz="4400" b="0">
                <a:solidFill>
                  <a:schemeClr val="bg1"/>
                </a:solidFill>
              </a:defRPr>
            </a:lvl2pPr>
            <a:lvl3pPr marL="0" indent="0">
              <a:buNone/>
              <a:defRPr sz="2200" b="1">
                <a:solidFill>
                  <a:srgbClr val="FFFFFF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0690027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2571750"/>
            <a:ext cx="3600400" cy="2160240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tabLst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tabLst/>
              <a:defRPr sz="1600">
                <a:solidFill>
                  <a:schemeClr val="tx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tabLst/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251521" y="915566"/>
            <a:ext cx="3600399" cy="1440160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3E1FEB1-B064-4A02-9F41-042BA4A65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519" y="267494"/>
            <a:ext cx="2731182" cy="684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D8E361E-CD87-443C-800B-4A44210D567D}"/>
              </a:ext>
            </a:extLst>
          </p:cNvPr>
          <p:cNvSpPr/>
          <p:nvPr userDrawn="1"/>
        </p:nvSpPr>
        <p:spPr>
          <a:xfrm>
            <a:off x="251520" y="4711673"/>
            <a:ext cx="3240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Operated by CSIRO, Australia’s National Science Agency,</a:t>
            </a:r>
          </a:p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on behalf of the nation</a:t>
            </a:r>
          </a:p>
        </p:txBody>
      </p:sp>
    </p:spTree>
    <p:extLst>
      <p:ext uri="{BB962C8B-B14F-4D97-AF65-F5344CB8AC3E}">
        <p14:creationId xmlns:p14="http://schemas.microsoft.com/office/powerpoint/2010/main" val="109840618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1851670"/>
            <a:ext cx="3600400" cy="2847245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tabLst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tabLst/>
              <a:defRPr sz="1600">
                <a:solidFill>
                  <a:schemeClr val="tx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tabLst/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36676"/>
            <a:ext cx="3672408" cy="6393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95896B-47EC-4FA1-B742-A753A2405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519" y="267494"/>
            <a:ext cx="2731182" cy="684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DCE8BE1-B123-4F39-B7B9-5731EE8B58DC}"/>
              </a:ext>
            </a:extLst>
          </p:cNvPr>
          <p:cNvSpPr/>
          <p:nvPr userDrawn="1"/>
        </p:nvSpPr>
        <p:spPr>
          <a:xfrm>
            <a:off x="251520" y="4711673"/>
            <a:ext cx="3240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Operated by CSIRO, Australia’s National Science Agency,</a:t>
            </a:r>
          </a:p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on behalf of the nation</a:t>
            </a:r>
          </a:p>
        </p:txBody>
      </p:sp>
    </p:spTree>
    <p:extLst>
      <p:ext uri="{BB962C8B-B14F-4D97-AF65-F5344CB8AC3E}">
        <p14:creationId xmlns:p14="http://schemas.microsoft.com/office/powerpoint/2010/main" val="153425235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20538"/>
            <a:ext cx="9144000" cy="25956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859782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4096622"/>
            <a:ext cx="576064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7" name="Rectangle 6"/>
          <p:cNvSpPr/>
          <p:nvPr userDrawn="1"/>
        </p:nvSpPr>
        <p:spPr>
          <a:xfrm>
            <a:off x="251520" y="4850173"/>
            <a:ext cx="518457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Operated by CSIRO, Australia’s National Science Agency, on behalf of the nation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387BE29-1632-4D81-AE78-54533B5FB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0450" y="4213438"/>
            <a:ext cx="2731182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86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859782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4096622"/>
            <a:ext cx="576064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9162000" cy="25776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1CABD70-4867-48FD-AC0D-DCF015F1B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0450" y="4213438"/>
            <a:ext cx="2731182" cy="684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ED3FF37-CBD0-4006-BB03-019DB869F03D}"/>
              </a:ext>
            </a:extLst>
          </p:cNvPr>
          <p:cNvSpPr/>
          <p:nvPr userDrawn="1"/>
        </p:nvSpPr>
        <p:spPr>
          <a:xfrm>
            <a:off x="251520" y="4850173"/>
            <a:ext cx="518457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Operated by CSIRO, Australia’s National Science Agency, on behalf of the nation</a:t>
            </a:r>
          </a:p>
        </p:txBody>
      </p:sp>
    </p:spTree>
    <p:extLst>
      <p:ext uri="{BB962C8B-B14F-4D97-AF65-F5344CB8AC3E}">
        <p14:creationId xmlns:p14="http://schemas.microsoft.com/office/powerpoint/2010/main" val="1864751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partner log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20538"/>
            <a:ext cx="9144000" cy="25956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1203598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2922403"/>
            <a:ext cx="720080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652120" y="470994"/>
            <a:ext cx="324951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n-AU" sz="1000" dirty="0">
                <a:solidFill>
                  <a:schemeClr val="bg1"/>
                </a:solidFill>
              </a:rPr>
              <a:t>Operated by CSIRO, Australia’s National Science Agency, </a:t>
            </a:r>
            <a:br>
              <a:rPr lang="en-AU" sz="1000" dirty="0">
                <a:solidFill>
                  <a:schemeClr val="bg1"/>
                </a:solidFill>
              </a:rPr>
            </a:br>
            <a:r>
              <a:rPr lang="en-AU" sz="1000" dirty="0">
                <a:solidFill>
                  <a:schemeClr val="bg1"/>
                </a:solidFill>
              </a:rPr>
              <a:t>on behalf of the nation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4E7955D-800C-4935-BA3F-A34E93CC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520" y="267494"/>
            <a:ext cx="2731182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219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4639224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647519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360000"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642754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131590"/>
            <a:ext cx="8640958" cy="3070944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1850" y="267494"/>
            <a:ext cx="8630630" cy="6399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accent3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2200" b="0">
                <a:solidFill>
                  <a:schemeClr val="accent2"/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4193395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131590"/>
            <a:ext cx="4038600" cy="33123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4295" y="1131590"/>
            <a:ext cx="4038600" cy="33123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541045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4887027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321172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51679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ayou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55556648-49D5-4B5B-92D5-2DB59DEB59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9162000" cy="25776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51520" y="2859782"/>
            <a:ext cx="7920880" cy="2016224"/>
          </a:xfr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buFontTx/>
              <a:buNone/>
              <a:defRPr sz="4000" b="0">
                <a:solidFill>
                  <a:schemeClr val="accent3"/>
                </a:solidFill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None/>
              <a:defRPr sz="4000" b="0">
                <a:solidFill>
                  <a:schemeClr val="accent2"/>
                </a:solidFill>
              </a:defRPr>
            </a:lvl2pPr>
            <a:lvl3pPr marL="0" indent="0">
              <a:spcBef>
                <a:spcPts val="2200"/>
              </a:spcBef>
              <a:buNone/>
              <a:defRPr b="1">
                <a:solidFill>
                  <a:srgbClr val="00313C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7071576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51520" y="1131590"/>
            <a:ext cx="7200800" cy="36004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Tx/>
              <a:buNone/>
              <a:defRPr sz="4400" b="0">
                <a:solidFill>
                  <a:schemeClr val="accent1"/>
                </a:solidFill>
              </a:defRPr>
            </a:lvl1pPr>
            <a:lvl2pPr marL="0" indent="0">
              <a:lnSpc>
                <a:spcPct val="75000"/>
              </a:lnSpc>
              <a:spcAft>
                <a:spcPts val="850"/>
              </a:spcAft>
              <a:buNone/>
              <a:defRPr sz="4400" b="0">
                <a:solidFill>
                  <a:schemeClr val="bg1"/>
                </a:solidFill>
              </a:defRPr>
            </a:lvl2pPr>
            <a:lvl3pPr marL="0" indent="0">
              <a:buNone/>
              <a:defRPr sz="2200" b="1">
                <a:solidFill>
                  <a:srgbClr val="FFFFFF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0078357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>
          <a:xfrm>
            <a:off x="0" y="0"/>
            <a:ext cx="9144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3579862"/>
            <a:ext cx="5760640" cy="1008112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tx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251521" y="2715766"/>
            <a:ext cx="6048671" cy="576064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95FEBB1-2FB4-404D-B517-C1502B593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0450" y="4213438"/>
            <a:ext cx="2731182" cy="684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93F3E07-2251-45C6-9608-F9B7BC275A58}"/>
              </a:ext>
            </a:extLst>
          </p:cNvPr>
          <p:cNvSpPr/>
          <p:nvPr userDrawn="1"/>
        </p:nvSpPr>
        <p:spPr>
          <a:xfrm>
            <a:off x="251520" y="4850173"/>
            <a:ext cx="518457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Operated by CSIRO, Australia’s National Science Agency, on behalf of the nation</a:t>
            </a:r>
          </a:p>
        </p:txBody>
      </p:sp>
    </p:spTree>
    <p:extLst>
      <p:ext uri="{BB962C8B-B14F-4D97-AF65-F5344CB8AC3E}">
        <p14:creationId xmlns:p14="http://schemas.microsoft.com/office/powerpoint/2010/main" val="172092315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3075806"/>
            <a:ext cx="5760640" cy="1623109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tx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26E1E94-9471-4672-BA14-8DD18A74F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0450" y="4213438"/>
            <a:ext cx="2731182" cy="684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CBBD1A7-F5C4-41D4-8812-4A43FA84033A}"/>
              </a:ext>
            </a:extLst>
          </p:cNvPr>
          <p:cNvSpPr/>
          <p:nvPr userDrawn="1"/>
        </p:nvSpPr>
        <p:spPr>
          <a:xfrm>
            <a:off x="251520" y="4850173"/>
            <a:ext cx="518457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Operated by CSIRO, Australia’s National Science Agency, on behalf of the nation</a:t>
            </a:r>
          </a:p>
        </p:txBody>
      </p:sp>
    </p:spTree>
    <p:extLst>
      <p:ext uri="{BB962C8B-B14F-4D97-AF65-F5344CB8AC3E}">
        <p14:creationId xmlns:p14="http://schemas.microsoft.com/office/powerpoint/2010/main" val="161674689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1779662"/>
            <a:ext cx="3600400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3651870"/>
            <a:ext cx="3600400" cy="576064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 dirty="0"/>
          </a:p>
        </p:txBody>
      </p:sp>
      <p:sp>
        <p:nvSpPr>
          <p:cNvPr id="4" name="Rectangle 3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/>
          <p:cNvSpPr/>
          <p:nvPr userDrawn="1"/>
        </p:nvSpPr>
        <p:spPr>
          <a:xfrm>
            <a:off x="251520" y="4850173"/>
            <a:ext cx="302433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0E9AAB-FD72-2643-BFC4-B94B291F6B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12929"/>
            <a:ext cx="156720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267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5602">
          <p15:clr>
            <a:srgbClr val="FBAE40"/>
          </p15:clr>
        </p15:guide>
        <p15:guide id="4" pos="158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1779662"/>
            <a:ext cx="3600400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3651870"/>
            <a:ext cx="3600400" cy="576064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51520" y="4850173"/>
            <a:ext cx="302433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71999" y="0"/>
            <a:ext cx="4563963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B9622D-F19E-432D-860A-326029CCE7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12929"/>
            <a:ext cx="156720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35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2880">
          <p15:clr>
            <a:srgbClr val="FBAE40"/>
          </p15:clr>
        </p15:guide>
        <p15:guide id="4" pos="5602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globe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EA4BEA-90AA-46F4-829C-BDC63E08AE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09831" y="411510"/>
            <a:ext cx="4324337" cy="43204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054777"/>
            <a:ext cx="2016224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C8B3A7-6D79-4B41-84C1-E8DAF3E537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12929"/>
            <a:ext cx="1567204" cy="360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2C4274-80E7-4D13-B882-F2E3C65753AE}"/>
              </a:ext>
            </a:extLst>
          </p:cNvPr>
          <p:cNvSpPr/>
          <p:nvPr userDrawn="1"/>
        </p:nvSpPr>
        <p:spPr>
          <a:xfrm>
            <a:off x="251520" y="4850173"/>
            <a:ext cx="302433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</p:spTree>
    <p:extLst>
      <p:ext uri="{BB962C8B-B14F-4D97-AF65-F5344CB8AC3E}">
        <p14:creationId xmlns:p14="http://schemas.microsoft.com/office/powerpoint/2010/main" val="1078919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5602">
          <p15:clr>
            <a:srgbClr val="FBAE40"/>
          </p15:clr>
        </p15:guide>
        <p15:guide id="4" pos="158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globe 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054777"/>
            <a:ext cx="2016224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C8B3A7-6D79-4B41-84C1-E8DAF3E537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12929"/>
            <a:ext cx="1567204" cy="360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2C4274-80E7-4D13-B882-F2E3C65753AE}"/>
              </a:ext>
            </a:extLst>
          </p:cNvPr>
          <p:cNvSpPr/>
          <p:nvPr userDrawn="1"/>
        </p:nvSpPr>
        <p:spPr>
          <a:xfrm>
            <a:off x="251520" y="4850173"/>
            <a:ext cx="302433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406DC2-4C63-CE6E-8989-E5CBD84A96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11760" y="411510"/>
            <a:ext cx="4320479" cy="432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210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5602">
          <p15:clr>
            <a:srgbClr val="FBAE40"/>
          </p15:clr>
        </p15:guide>
        <p15:guide id="4" pos="158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globe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054777"/>
            <a:ext cx="2016224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C8B3A7-6D79-4B41-84C1-E8DAF3E537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12929"/>
            <a:ext cx="1567204" cy="360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2C4274-80E7-4D13-B882-F2E3C65753AE}"/>
              </a:ext>
            </a:extLst>
          </p:cNvPr>
          <p:cNvSpPr/>
          <p:nvPr userDrawn="1"/>
        </p:nvSpPr>
        <p:spPr>
          <a:xfrm>
            <a:off x="251520" y="4850173"/>
            <a:ext cx="302433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A1AF00-555A-4FD8-DF4E-B5BCF4779C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1759" y="409582"/>
            <a:ext cx="4320479" cy="432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84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5602">
          <p15:clr>
            <a:srgbClr val="FBAE40"/>
          </p15:clr>
        </p15:guide>
        <p15:guide id="4" pos="158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globe 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054777"/>
            <a:ext cx="2016224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C8B3A7-6D79-4B41-84C1-E8DAF3E537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12929"/>
            <a:ext cx="1567204" cy="360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2C4274-80E7-4D13-B882-F2E3C65753AE}"/>
              </a:ext>
            </a:extLst>
          </p:cNvPr>
          <p:cNvSpPr/>
          <p:nvPr userDrawn="1"/>
        </p:nvSpPr>
        <p:spPr>
          <a:xfrm>
            <a:off x="251520" y="4850173"/>
            <a:ext cx="302433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C90276-62BF-55D4-CEF4-D7FFC9C597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11759" y="411510"/>
            <a:ext cx="4320479" cy="432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43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5602">
          <p15:clr>
            <a:srgbClr val="FBAE40"/>
          </p15:clr>
        </p15:guide>
        <p15:guide id="4" pos="158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752781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5559165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360000"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9813709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707654"/>
            <a:ext cx="8640958" cy="3024336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1850" y="843558"/>
            <a:ext cx="8630630" cy="6399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accent3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2200" b="0">
                <a:solidFill>
                  <a:schemeClr val="accent2"/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722530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4295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4976071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cataly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805458"/>
            <a:ext cx="4038600" cy="639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1371" y="4878250"/>
            <a:ext cx="3688750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5058857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catalys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805458"/>
            <a:ext cx="4038600" cy="639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665854"/>
            <a:ext cx="4038600" cy="3066136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1371" y="4878250"/>
            <a:ext cx="3688750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5107243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half horizontal image (about us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2767500"/>
            <a:ext cx="9143999" cy="23760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805458"/>
            <a:ext cx="8640960" cy="6393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1543707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+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71999" y="0"/>
            <a:ext cx="4563963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550788"/>
            <a:ext cx="4032446" cy="318120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805458"/>
            <a:ext cx="4032448" cy="639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601371" y="4878250"/>
            <a:ext cx="3682598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3512395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+ quart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853836" y="0"/>
            <a:ext cx="2282400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550788"/>
            <a:ext cx="6336702" cy="318120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805458"/>
            <a:ext cx="6336704" cy="639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601370" y="4878250"/>
            <a:ext cx="5986853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933981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5395252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9439555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53854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17B52948-05FD-444E-9ADC-BA5285595A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1999" y="0"/>
            <a:ext cx="4563963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51520" y="1851670"/>
            <a:ext cx="3960440" cy="2525068"/>
          </a:xfrm>
        </p:spPr>
        <p:txBody>
          <a:bodyPr/>
          <a:lstStyle>
            <a:lvl1pPr marL="0" indent="0">
              <a:lnSpc>
                <a:spcPct val="85000"/>
              </a:lnSpc>
              <a:spcAft>
                <a:spcPts val="0"/>
              </a:spcAft>
              <a:buFontTx/>
              <a:buNone/>
              <a:defRPr sz="4000" b="0">
                <a:solidFill>
                  <a:schemeClr val="accent3"/>
                </a:solidFill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None/>
              <a:defRPr sz="4000" b="0">
                <a:solidFill>
                  <a:schemeClr val="accent2"/>
                </a:solidFill>
              </a:defRPr>
            </a:lvl2pPr>
            <a:lvl3pPr marL="0" indent="0">
              <a:spcBef>
                <a:spcPts val="2200"/>
              </a:spcBef>
              <a:buNone/>
              <a:defRPr b="1">
                <a:solidFill>
                  <a:srgbClr val="00313C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7917595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51520" y="1275605"/>
            <a:ext cx="7056784" cy="2736305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Tx/>
              <a:buNone/>
              <a:defRPr sz="4400" b="0">
                <a:solidFill>
                  <a:schemeClr val="accent1"/>
                </a:solidFill>
              </a:defRPr>
            </a:lvl1pPr>
            <a:lvl2pPr marL="0" indent="0">
              <a:lnSpc>
                <a:spcPct val="75000"/>
              </a:lnSpc>
              <a:spcAft>
                <a:spcPts val="850"/>
              </a:spcAft>
              <a:buNone/>
              <a:defRPr sz="4400" b="0">
                <a:solidFill>
                  <a:schemeClr val="bg1"/>
                </a:solidFill>
              </a:defRPr>
            </a:lvl2pPr>
            <a:lvl3pPr marL="0" indent="0">
              <a:buNone/>
              <a:defRPr sz="2200" b="1">
                <a:solidFill>
                  <a:srgbClr val="FFFFF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118050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2571750"/>
            <a:ext cx="3600400" cy="2160240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tabLst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tabLst/>
              <a:defRPr sz="1600">
                <a:solidFill>
                  <a:schemeClr val="tx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tabLst/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251521" y="915566"/>
            <a:ext cx="3600399" cy="1440160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Rectangle 43"/>
          <p:cNvSpPr/>
          <p:nvPr userDrawn="1"/>
        </p:nvSpPr>
        <p:spPr>
          <a:xfrm>
            <a:off x="251520" y="4850173"/>
            <a:ext cx="2808312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6B03B6-C4D9-4B46-A461-4BD384CE34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12929"/>
            <a:ext cx="156720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65231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1851670"/>
            <a:ext cx="3600400" cy="2847245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tabLst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tabLst/>
              <a:defRPr sz="1600">
                <a:solidFill>
                  <a:schemeClr val="tx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tabLst/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 28"/>
          <p:cNvSpPr/>
          <p:nvPr userDrawn="1"/>
        </p:nvSpPr>
        <p:spPr>
          <a:xfrm>
            <a:off x="251520" y="4850173"/>
            <a:ext cx="28803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36676"/>
            <a:ext cx="3672408" cy="639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F8021B-8237-44DA-97CC-7AE087B0EF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12929"/>
            <a:ext cx="156720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11539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20538"/>
            <a:ext cx="9144000" cy="25956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859782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4096622"/>
            <a:ext cx="720080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7" name="Rectangle 6"/>
          <p:cNvSpPr/>
          <p:nvPr userDrawn="1"/>
        </p:nvSpPr>
        <p:spPr>
          <a:xfrm>
            <a:off x="251520" y="4850173"/>
            <a:ext cx="2952328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FD9A8B-B204-4EC3-9CD2-BA2AD366ED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051" y="4560533"/>
            <a:ext cx="156720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548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859782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4096622"/>
            <a:ext cx="720080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7" name="Rectangle 6"/>
          <p:cNvSpPr/>
          <p:nvPr userDrawn="1"/>
        </p:nvSpPr>
        <p:spPr>
          <a:xfrm>
            <a:off x="251520" y="4850173"/>
            <a:ext cx="3096344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9162000" cy="25776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6C1F87-268D-4E82-9F10-8C710E20EE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051" y="4560533"/>
            <a:ext cx="156720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808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partner log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20538"/>
            <a:ext cx="9144000" cy="25956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1203598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2922403"/>
            <a:ext cx="720080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940152" y="582251"/>
            <a:ext cx="296148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n-AU" sz="1000" dirty="0">
                <a:solidFill>
                  <a:schemeClr val="bg1"/>
                </a:solidFill>
              </a:rPr>
              <a:t>Australia’s National Science Agency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9876AC-9600-4B4D-B446-34DCB05E2B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12929"/>
            <a:ext cx="156720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341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3585760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796275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360000"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631294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131590"/>
            <a:ext cx="8640958" cy="3070944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1850" y="267494"/>
            <a:ext cx="8630630" cy="6399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accent3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2200" b="0">
                <a:solidFill>
                  <a:schemeClr val="accent2"/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23046482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131590"/>
            <a:ext cx="4038600" cy="33123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4295" y="1131590"/>
            <a:ext cx="4038600" cy="33123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0104707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10224283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5040136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4538494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ayou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55556648-49D5-4B5B-92D5-2DB59DEB59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9162000" cy="25776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51520" y="2859782"/>
            <a:ext cx="7920880" cy="2016224"/>
          </a:xfr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buFontTx/>
              <a:buNone/>
              <a:defRPr sz="4000" b="0">
                <a:solidFill>
                  <a:schemeClr val="accent3"/>
                </a:solidFill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None/>
              <a:defRPr sz="4000" b="0">
                <a:solidFill>
                  <a:schemeClr val="accent2"/>
                </a:solidFill>
              </a:defRPr>
            </a:lvl2pPr>
            <a:lvl3pPr marL="0" indent="0">
              <a:spcBef>
                <a:spcPts val="2200"/>
              </a:spcBef>
              <a:buNone/>
              <a:defRPr b="1">
                <a:solidFill>
                  <a:srgbClr val="00313C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060657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51520" y="1131590"/>
            <a:ext cx="7200800" cy="36004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Tx/>
              <a:buNone/>
              <a:defRPr sz="4400" b="0">
                <a:solidFill>
                  <a:schemeClr val="accent1"/>
                </a:solidFill>
              </a:defRPr>
            </a:lvl1pPr>
            <a:lvl2pPr marL="0" indent="0">
              <a:lnSpc>
                <a:spcPct val="75000"/>
              </a:lnSpc>
              <a:spcAft>
                <a:spcPts val="850"/>
              </a:spcAft>
              <a:buNone/>
              <a:defRPr sz="4400" b="0">
                <a:solidFill>
                  <a:schemeClr val="bg1"/>
                </a:solidFill>
              </a:defRPr>
            </a:lvl2pPr>
            <a:lvl3pPr marL="0" indent="0">
              <a:buNone/>
              <a:defRPr sz="2200" b="1">
                <a:solidFill>
                  <a:srgbClr val="FFFFFF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2272121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>
          <a:xfrm>
            <a:off x="0" y="0"/>
            <a:ext cx="9144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3579862"/>
            <a:ext cx="6048672" cy="1008112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tx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251521" y="2715766"/>
            <a:ext cx="6048671" cy="576064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44" name="Rectangle 43"/>
          <p:cNvSpPr/>
          <p:nvPr userDrawn="1"/>
        </p:nvSpPr>
        <p:spPr>
          <a:xfrm>
            <a:off x="251520" y="4850173"/>
            <a:ext cx="2952328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B0BF06-28AD-4AE0-B95F-477AF982B2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051" y="4560533"/>
            <a:ext cx="156720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46531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D40E9F-1680-46D9-A966-C00787EC8D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051" y="4560533"/>
            <a:ext cx="1567204" cy="36000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0" y="0"/>
            <a:ext cx="9144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3075806"/>
            <a:ext cx="7200800" cy="1623109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tx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251520" y="4850173"/>
            <a:ext cx="2808312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</p:spTree>
    <p:extLst>
      <p:ext uri="{BB962C8B-B14F-4D97-AF65-F5344CB8AC3E}">
        <p14:creationId xmlns:p14="http://schemas.microsoft.com/office/powerpoint/2010/main" val="321481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18.xml"/><Relationship Id="rId21" Type="http://schemas.openxmlformats.org/officeDocument/2006/relationships/image" Target="../media/image2.emf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image" Target="../media/image2.emf"/><Relationship Id="rId2" Type="http://schemas.openxmlformats.org/officeDocument/2006/relationships/slideLayout" Target="../slideLayouts/slideLayout36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2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image" Target="../media/image5.sv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81.xml"/><Relationship Id="rId18" Type="http://schemas.openxmlformats.org/officeDocument/2006/relationships/image" Target="../media/image5.svg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70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13" Type="http://schemas.openxmlformats.org/officeDocument/2006/relationships/slideLayout" Target="../slideLayouts/slideLayout96.xml"/><Relationship Id="rId18" Type="http://schemas.openxmlformats.org/officeDocument/2006/relationships/slideLayout" Target="../slideLayouts/slideLayout101.xml"/><Relationship Id="rId3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5.xml"/><Relationship Id="rId17" Type="http://schemas.openxmlformats.org/officeDocument/2006/relationships/slideLayout" Target="../slideLayouts/slideLayout100.xml"/><Relationship Id="rId25" Type="http://schemas.openxmlformats.org/officeDocument/2006/relationships/image" Target="../media/image7.emf"/><Relationship Id="rId2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99.xml"/><Relationship Id="rId20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24" Type="http://schemas.openxmlformats.org/officeDocument/2006/relationships/theme" Target="../theme/theme6.xml"/><Relationship Id="rId5" Type="http://schemas.openxmlformats.org/officeDocument/2006/relationships/slideLayout" Target="../slideLayouts/slideLayout88.xml"/><Relationship Id="rId15" Type="http://schemas.openxmlformats.org/officeDocument/2006/relationships/slideLayout" Target="../slideLayouts/slideLayout98.xml"/><Relationship Id="rId23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93.xml"/><Relationship Id="rId19" Type="http://schemas.openxmlformats.org/officeDocument/2006/relationships/slideLayout" Target="../slideLayouts/slideLayout102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14" Type="http://schemas.openxmlformats.org/officeDocument/2006/relationships/slideLayout" Target="../slideLayouts/slideLayout97.xml"/><Relationship Id="rId22" Type="http://schemas.openxmlformats.org/officeDocument/2006/relationships/slideLayout" Target="../slideLayouts/slideLayout10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8.xml"/><Relationship Id="rId17" Type="http://schemas.openxmlformats.org/officeDocument/2006/relationships/image" Target="../media/image7.emf"/><Relationship Id="rId2" Type="http://schemas.openxmlformats.org/officeDocument/2006/relationships/slideLayout" Target="../slideLayouts/slideLayout108.xml"/><Relationship Id="rId16" Type="http://schemas.openxmlformats.org/officeDocument/2006/relationships/theme" Target="../theme/theme7.xml"/><Relationship Id="rId1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1.xml"/><Relationship Id="rId15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1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20" y="242243"/>
            <a:ext cx="8640960" cy="63936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22" y="987573"/>
            <a:ext cx="8640958" cy="35742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1370" y="4878250"/>
            <a:ext cx="6083845" cy="9320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accent3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253577" y="4878250"/>
            <a:ext cx="288789" cy="9551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36" name="AutoShape 4"/>
          <p:cNvSpPr>
            <a:spLocks noChangeAspect="1" noChangeArrowheads="1" noTextEdit="1"/>
          </p:cNvSpPr>
          <p:nvPr userDrawn="1"/>
        </p:nvSpPr>
        <p:spPr bwMode="auto">
          <a:xfrm>
            <a:off x="3178" y="2494956"/>
            <a:ext cx="9161463" cy="60126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38" name="Rectangle 7"/>
          <p:cNvSpPr>
            <a:spLocks noChangeArrowheads="1"/>
          </p:cNvSpPr>
          <p:nvPr userDrawn="1"/>
        </p:nvSpPr>
        <p:spPr bwMode="auto">
          <a:xfrm>
            <a:off x="12701" y="2728318"/>
            <a:ext cx="9142412" cy="36790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44" name="Rectangle 84"/>
          <p:cNvSpPr>
            <a:spLocks noChangeArrowheads="1"/>
          </p:cNvSpPr>
          <p:nvPr/>
        </p:nvSpPr>
        <p:spPr bwMode="auto">
          <a:xfrm>
            <a:off x="1591" y="2719984"/>
            <a:ext cx="9167813" cy="408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8479813" y="4561859"/>
            <a:ext cx="442169" cy="44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737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7" r:id="rId2"/>
    <p:sldLayoutId id="2147483701" r:id="rId3"/>
    <p:sldLayoutId id="2147483685" r:id="rId4"/>
    <p:sldLayoutId id="2147483705" r:id="rId5"/>
    <p:sldLayoutId id="2147483686" r:id="rId6"/>
    <p:sldLayoutId id="2147483687" r:id="rId7"/>
    <p:sldLayoutId id="2147483688" r:id="rId8"/>
    <p:sldLayoutId id="2147483689" r:id="rId9"/>
    <p:sldLayoutId id="2147483708" r:id="rId10"/>
    <p:sldLayoutId id="2147483690" r:id="rId11"/>
    <p:sldLayoutId id="2147483691" r:id="rId12"/>
    <p:sldLayoutId id="2147483692" r:id="rId13"/>
    <p:sldLayoutId id="2147483693" r:id="rId14"/>
    <p:sldLayoutId id="2147483694" r:id="rId15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•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20" y="805458"/>
            <a:ext cx="8640960" cy="63936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22" y="1550788"/>
            <a:ext cx="8640958" cy="318120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1370" y="4878250"/>
            <a:ext cx="6083845" cy="9320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accent3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253577" y="4878250"/>
            <a:ext cx="288789" cy="9551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36" name="AutoShape 4"/>
          <p:cNvSpPr>
            <a:spLocks noChangeAspect="1" noChangeArrowheads="1" noTextEdit="1"/>
          </p:cNvSpPr>
          <p:nvPr userDrawn="1"/>
        </p:nvSpPr>
        <p:spPr bwMode="auto">
          <a:xfrm>
            <a:off x="3178" y="2494956"/>
            <a:ext cx="9161463" cy="60126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38" name="Rectangle 7"/>
          <p:cNvSpPr>
            <a:spLocks noChangeArrowheads="1"/>
          </p:cNvSpPr>
          <p:nvPr userDrawn="1"/>
        </p:nvSpPr>
        <p:spPr bwMode="auto">
          <a:xfrm>
            <a:off x="12701" y="2728318"/>
            <a:ext cx="9142412" cy="36790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44" name="Rectangle 84"/>
          <p:cNvSpPr>
            <a:spLocks noChangeArrowheads="1"/>
          </p:cNvSpPr>
          <p:nvPr/>
        </p:nvSpPr>
        <p:spPr bwMode="auto">
          <a:xfrm>
            <a:off x="1591" y="2719984"/>
            <a:ext cx="9167813" cy="408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7DD59A-4148-4107-89BD-9ACB60B45F7F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9" y="195486"/>
            <a:ext cx="936488" cy="4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333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  <p:sldLayoutId id="2147483762" r:id="rId17"/>
    <p:sldLayoutId id="2147483763" r:id="rId18"/>
    <p:sldLayoutId id="2147483764" r:id="rId19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•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20" y="242243"/>
            <a:ext cx="8640960" cy="63936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22" y="987573"/>
            <a:ext cx="8640958" cy="35742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1370" y="4878250"/>
            <a:ext cx="6083845" cy="9320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accent3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253577" y="4878250"/>
            <a:ext cx="288789" cy="9551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36" name="AutoShape 4"/>
          <p:cNvSpPr>
            <a:spLocks noChangeAspect="1" noChangeArrowheads="1" noTextEdit="1"/>
          </p:cNvSpPr>
          <p:nvPr userDrawn="1"/>
        </p:nvSpPr>
        <p:spPr bwMode="auto">
          <a:xfrm>
            <a:off x="3178" y="2494956"/>
            <a:ext cx="9161463" cy="60126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38" name="Rectangle 7"/>
          <p:cNvSpPr>
            <a:spLocks noChangeArrowheads="1"/>
          </p:cNvSpPr>
          <p:nvPr userDrawn="1"/>
        </p:nvSpPr>
        <p:spPr bwMode="auto">
          <a:xfrm>
            <a:off x="12701" y="2728318"/>
            <a:ext cx="9142412" cy="36790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44" name="Rectangle 84"/>
          <p:cNvSpPr>
            <a:spLocks noChangeArrowheads="1"/>
          </p:cNvSpPr>
          <p:nvPr/>
        </p:nvSpPr>
        <p:spPr bwMode="auto">
          <a:xfrm>
            <a:off x="1591" y="2719984"/>
            <a:ext cx="9167813" cy="408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B5D801-8BF9-4650-9BFF-FFF9F24B1811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5494" y="4561228"/>
            <a:ext cx="936488" cy="4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29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•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20" y="805458"/>
            <a:ext cx="8640960" cy="63936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22" y="1550788"/>
            <a:ext cx="8640958" cy="318120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1370" y="4878250"/>
            <a:ext cx="6083845" cy="9320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accent3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253577" y="4878250"/>
            <a:ext cx="288789" cy="9551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36" name="AutoShape 4"/>
          <p:cNvSpPr>
            <a:spLocks noChangeAspect="1" noChangeArrowheads="1" noTextEdit="1"/>
          </p:cNvSpPr>
          <p:nvPr userDrawn="1"/>
        </p:nvSpPr>
        <p:spPr bwMode="auto">
          <a:xfrm>
            <a:off x="3178" y="2494956"/>
            <a:ext cx="9161463" cy="60126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38" name="Rectangle 7"/>
          <p:cNvSpPr>
            <a:spLocks noChangeArrowheads="1"/>
          </p:cNvSpPr>
          <p:nvPr userDrawn="1"/>
        </p:nvSpPr>
        <p:spPr bwMode="auto">
          <a:xfrm>
            <a:off x="12701" y="2728318"/>
            <a:ext cx="9142412" cy="36790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44" name="Rectangle 84"/>
          <p:cNvSpPr>
            <a:spLocks noChangeArrowheads="1"/>
          </p:cNvSpPr>
          <p:nvPr/>
        </p:nvSpPr>
        <p:spPr bwMode="auto">
          <a:xfrm>
            <a:off x="1591" y="2719984"/>
            <a:ext cx="9167813" cy="408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8F4E070-DE66-4ABC-A8F6-3559DD6EA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51519" y="195486"/>
            <a:ext cx="1768081" cy="4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57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96" r:id="rId15"/>
    <p:sldLayoutId id="2147483797" r:id="rId16"/>
    <p:sldLayoutId id="2147483798" r:id="rId17"/>
    <p:sldLayoutId id="2147483799" r:id="rId18"/>
    <p:sldLayoutId id="2147483800" r:id="rId19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•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20" y="242243"/>
            <a:ext cx="8640960" cy="63936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22" y="987573"/>
            <a:ext cx="8640958" cy="35742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1370" y="4878250"/>
            <a:ext cx="6083845" cy="9320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accent3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253577" y="4878250"/>
            <a:ext cx="288789" cy="9551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36" name="AutoShape 4"/>
          <p:cNvSpPr>
            <a:spLocks noChangeAspect="1" noChangeArrowheads="1" noTextEdit="1"/>
          </p:cNvSpPr>
          <p:nvPr userDrawn="1"/>
        </p:nvSpPr>
        <p:spPr bwMode="auto">
          <a:xfrm>
            <a:off x="3178" y="2494956"/>
            <a:ext cx="9161463" cy="60126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38" name="Rectangle 7"/>
          <p:cNvSpPr>
            <a:spLocks noChangeArrowheads="1"/>
          </p:cNvSpPr>
          <p:nvPr userDrawn="1"/>
        </p:nvSpPr>
        <p:spPr bwMode="auto">
          <a:xfrm>
            <a:off x="12701" y="2728318"/>
            <a:ext cx="9142412" cy="36790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44" name="Rectangle 84"/>
          <p:cNvSpPr>
            <a:spLocks noChangeArrowheads="1"/>
          </p:cNvSpPr>
          <p:nvPr/>
        </p:nvSpPr>
        <p:spPr bwMode="auto">
          <a:xfrm>
            <a:off x="1591" y="2719984"/>
            <a:ext cx="9167813" cy="408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48BB93D-47BD-4299-AC60-ADD2BF55C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53901" y="4561228"/>
            <a:ext cx="1768081" cy="4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84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•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20" y="805458"/>
            <a:ext cx="8640960" cy="63936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22" y="1550788"/>
            <a:ext cx="8640958" cy="318120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1370" y="4878250"/>
            <a:ext cx="6083845" cy="9320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accent3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253577" y="4878250"/>
            <a:ext cx="288789" cy="9551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36" name="AutoShape 4"/>
          <p:cNvSpPr>
            <a:spLocks noChangeAspect="1" noChangeArrowheads="1" noTextEdit="1"/>
          </p:cNvSpPr>
          <p:nvPr userDrawn="1"/>
        </p:nvSpPr>
        <p:spPr bwMode="auto">
          <a:xfrm>
            <a:off x="3178" y="2494956"/>
            <a:ext cx="9161463" cy="60126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38" name="Rectangle 7"/>
          <p:cNvSpPr>
            <a:spLocks noChangeArrowheads="1"/>
          </p:cNvSpPr>
          <p:nvPr userDrawn="1"/>
        </p:nvSpPr>
        <p:spPr bwMode="auto">
          <a:xfrm>
            <a:off x="12701" y="2728318"/>
            <a:ext cx="9142412" cy="36790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44" name="Rectangle 84"/>
          <p:cNvSpPr>
            <a:spLocks noChangeArrowheads="1"/>
          </p:cNvSpPr>
          <p:nvPr/>
        </p:nvSpPr>
        <p:spPr bwMode="auto">
          <a:xfrm>
            <a:off x="1591" y="2719984"/>
            <a:ext cx="9167813" cy="408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99F6DE-9351-1240-AACA-180705475965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90" y="245070"/>
            <a:ext cx="1010317" cy="23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42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824" r:id="rId4"/>
    <p:sldLayoutId id="2147483826" r:id="rId5"/>
    <p:sldLayoutId id="2147483825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827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28" r:id="rId2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•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20" y="242243"/>
            <a:ext cx="8640960" cy="63936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22" y="987573"/>
            <a:ext cx="8640958" cy="35742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1370" y="4878250"/>
            <a:ext cx="6083845" cy="9320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accent3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253577" y="4878250"/>
            <a:ext cx="288789" cy="9551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36" name="AutoShape 4"/>
          <p:cNvSpPr>
            <a:spLocks noChangeAspect="1" noChangeArrowheads="1" noTextEdit="1"/>
          </p:cNvSpPr>
          <p:nvPr userDrawn="1"/>
        </p:nvSpPr>
        <p:spPr bwMode="auto">
          <a:xfrm>
            <a:off x="3178" y="2494956"/>
            <a:ext cx="9161463" cy="60126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38" name="Rectangle 7"/>
          <p:cNvSpPr>
            <a:spLocks noChangeArrowheads="1"/>
          </p:cNvSpPr>
          <p:nvPr userDrawn="1"/>
        </p:nvSpPr>
        <p:spPr bwMode="auto">
          <a:xfrm>
            <a:off x="12701" y="2728318"/>
            <a:ext cx="9142412" cy="36790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44" name="Rectangle 84"/>
          <p:cNvSpPr>
            <a:spLocks noChangeArrowheads="1"/>
          </p:cNvSpPr>
          <p:nvPr/>
        </p:nvSpPr>
        <p:spPr bwMode="auto">
          <a:xfrm>
            <a:off x="1591" y="2719984"/>
            <a:ext cx="9167813" cy="408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46349F-4F50-4446-8BA9-4263776EBB91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2858" y="4709569"/>
            <a:ext cx="1010317" cy="23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22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•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602">
          <p15:clr>
            <a:srgbClr val="F26B43"/>
          </p15:clr>
        </p15:guide>
        <p15:guide id="2" orient="horz" pos="316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0.xml"/><Relationship Id="rId5" Type="http://schemas.openxmlformats.org/officeDocument/2006/relationships/image" Target="../media/image14.emf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0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43305-70CF-0966-B528-2BA518DD3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14004B-9594-8606-8A10-F211A620643E}"/>
              </a:ext>
            </a:extLst>
          </p:cNvPr>
          <p:cNvSpPr/>
          <p:nvPr/>
        </p:nvSpPr>
        <p:spPr>
          <a:xfrm>
            <a:off x="5076056" y="710098"/>
            <a:ext cx="3600400" cy="36618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CCFDB7C-CC2B-A726-39B5-5989505D5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dirty="0"/>
              <a:t>Beyond this meeting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234B26-9001-6CB6-CFC8-F332F357C9D5}"/>
              </a:ext>
            </a:extLst>
          </p:cNvPr>
          <p:cNvSpPr txBox="1"/>
          <p:nvPr/>
        </p:nvSpPr>
        <p:spPr>
          <a:xfrm>
            <a:off x="397082" y="870777"/>
            <a:ext cx="45334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key aspect of </a:t>
            </a:r>
            <a:r>
              <a:rPr lang="en-US" dirty="0" err="1"/>
              <a:t>CoFI</a:t>
            </a:r>
            <a:r>
              <a:rPr lang="en-US" dirty="0"/>
              <a:t> is the flexibility provided for exploration and experimentation in inversion</a:t>
            </a:r>
          </a:p>
          <a:p>
            <a:endParaRPr lang="en-US" dirty="0"/>
          </a:p>
          <a:p>
            <a:r>
              <a:rPr lang="en-US" dirty="0"/>
              <a:t>Created examples and brought existing capabilities together</a:t>
            </a:r>
          </a:p>
          <a:p>
            <a:endParaRPr lang="en-US" dirty="0"/>
          </a:p>
          <a:p>
            <a:r>
              <a:rPr lang="en-US" dirty="0"/>
              <a:t>Making unique approaches accessible through the common interface and grow the set of examples</a:t>
            </a:r>
          </a:p>
          <a:p>
            <a:endParaRPr lang="en-US" dirty="0"/>
          </a:p>
          <a:p>
            <a:r>
              <a:rPr lang="en-US" dirty="0"/>
              <a:t>A FAIR example driven framework…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5C5B64CE-1260-5F3A-EC59-FE849D99D8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3577" y="4878250"/>
            <a:ext cx="288789" cy="95510"/>
          </a:xfrm>
        </p:spPr>
        <p:txBody>
          <a:bodyPr/>
          <a:lstStyle/>
          <a:p>
            <a:pPr algn="ctr"/>
            <a:fld id="{2ABE124A-B5C5-46E0-B944-45307B126769}" type="slidenum">
              <a:rPr lang="en-AU" smtClean="0"/>
              <a:pPr algn="ctr"/>
              <a:t>1</a:t>
            </a:fld>
            <a:r>
              <a:rPr lang="en-AU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947CA4-5173-0C04-DBDA-F37CF72189F2}"/>
              </a:ext>
            </a:extLst>
          </p:cNvPr>
          <p:cNvSpPr txBox="1"/>
          <p:nvPr/>
        </p:nvSpPr>
        <p:spPr>
          <a:xfrm>
            <a:off x="5364124" y="887799"/>
            <a:ext cx="3024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 conversation about  </a:t>
            </a:r>
            <a:r>
              <a:rPr lang="en-US" sz="1200" dirty="0" err="1"/>
              <a:t>CoFI</a:t>
            </a:r>
            <a:r>
              <a:rPr lang="en-US" sz="1200" dirty="0"/>
              <a:t> over coffee is just the beginning…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D920A8-091D-AC17-D1F0-E2AF97FA04D7}"/>
              </a:ext>
            </a:extLst>
          </p:cNvPr>
          <p:cNvSpPr txBox="1"/>
          <p:nvPr/>
        </p:nvSpPr>
        <p:spPr>
          <a:xfrm>
            <a:off x="5288990" y="3503323"/>
            <a:ext cx="3387466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Explore our examples</a:t>
            </a:r>
          </a:p>
          <a:p>
            <a:endParaRPr lang="en-US" sz="400" b="1" dirty="0"/>
          </a:p>
          <a:p>
            <a:r>
              <a:rPr lang="en-US" sz="1100" b="1" dirty="0"/>
              <a:t>Setup your own inverse problem</a:t>
            </a:r>
          </a:p>
          <a:p>
            <a:endParaRPr lang="en-US" sz="400" b="1" dirty="0"/>
          </a:p>
          <a:p>
            <a:r>
              <a:rPr lang="en-US" sz="1100" b="1" dirty="0"/>
              <a:t>Let us know what you think</a:t>
            </a:r>
          </a:p>
          <a:p>
            <a:endParaRPr lang="en-US" sz="1000" dirty="0"/>
          </a:p>
        </p:txBody>
      </p:sp>
      <p:pic>
        <p:nvPicPr>
          <p:cNvPr id="11" name="Picture 10" descr="A cup of coffee on a saucer&#10;&#10;Description automatically generated">
            <a:extLst>
              <a:ext uri="{FF2B5EF4-FFF2-40B4-BE49-F238E27FC236}">
                <a16:creationId xmlns:a16="http://schemas.microsoft.com/office/drawing/2014/main" id="{0769BC5B-C678-E7D5-0A5C-24951A0F6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124" y="1387875"/>
            <a:ext cx="3096308" cy="2059045"/>
          </a:xfrm>
          <a:prstGeom prst="rect">
            <a:avLst/>
          </a:prstGeom>
        </p:spPr>
      </p:pic>
      <p:pic>
        <p:nvPicPr>
          <p:cNvPr id="7" name="Picture 6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1D4CABCF-558A-E79E-26FE-96C1C6971C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632" y="3585306"/>
            <a:ext cx="701791" cy="7017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B328CA-641C-2CD6-FA7C-8308B84EF179}"/>
              </a:ext>
            </a:extLst>
          </p:cNvPr>
          <p:cNvSpPr txBox="1"/>
          <p:nvPr/>
        </p:nvSpPr>
        <p:spPr>
          <a:xfrm>
            <a:off x="7153514" y="1431447"/>
            <a:ext cx="13289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www.inlab.au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94141A0-EB14-C2D2-1007-57D6391886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137" y="4545819"/>
            <a:ext cx="1440160" cy="58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869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C72A9-408A-3A06-57AF-12B09DB27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6F1AE4-36BD-D9BE-0651-7D532459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dirty="0"/>
              <a:t>Upcoming capabilities…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FEC1E6F7-EE98-9864-9B92-DA4C722162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3577" y="4878250"/>
            <a:ext cx="288789" cy="95510"/>
          </a:xfrm>
        </p:spPr>
        <p:txBody>
          <a:bodyPr/>
          <a:lstStyle/>
          <a:p>
            <a:pPr algn="ctr"/>
            <a:fld id="{2ABE124A-B5C5-46E0-B944-45307B126769}" type="slidenum">
              <a:rPr lang="en-AU" smtClean="0"/>
              <a:pPr algn="ctr"/>
              <a:t>2</a:t>
            </a:fld>
            <a:r>
              <a:rPr lang="en-AU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D519A5-5186-0432-5EB2-EF4AFE5B4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137" y="4545819"/>
            <a:ext cx="1440160" cy="5854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23E572-CD79-8799-0539-A66811124E55}"/>
              </a:ext>
            </a:extLst>
          </p:cNvPr>
          <p:cNvSpPr txBox="1"/>
          <p:nvPr/>
        </p:nvSpPr>
        <p:spPr>
          <a:xfrm>
            <a:off x="789644" y="1076543"/>
            <a:ext cx="333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Trans-conceptual sampling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6EB96D-18AA-8575-09C1-1C01CFEAE449}"/>
              </a:ext>
            </a:extLst>
          </p:cNvPr>
          <p:cNvSpPr txBox="1"/>
          <p:nvPr/>
        </p:nvSpPr>
        <p:spPr>
          <a:xfrm>
            <a:off x="4572000" y="705506"/>
            <a:ext cx="464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Options for trans-dimensional sampling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757813-E08D-0282-B7F3-24FE587DE676}"/>
              </a:ext>
            </a:extLst>
          </p:cNvPr>
          <p:cNvSpPr txBox="1"/>
          <p:nvPr/>
        </p:nvSpPr>
        <p:spPr>
          <a:xfrm>
            <a:off x="4673117" y="3347081"/>
            <a:ext cx="37153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Unified Interface for ensemble methods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3DF51E-0C83-6218-9642-C702547D8CDA}"/>
              </a:ext>
            </a:extLst>
          </p:cNvPr>
          <p:cNvSpPr txBox="1"/>
          <p:nvPr/>
        </p:nvSpPr>
        <p:spPr>
          <a:xfrm>
            <a:off x="6530771" y="2984549"/>
            <a:ext cx="21137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https://</a:t>
            </a:r>
            <a:r>
              <a:rPr lang="en-US" sz="900" dirty="0" err="1"/>
              <a:t>github.com</a:t>
            </a:r>
            <a:r>
              <a:rPr lang="en-US" sz="900" dirty="0"/>
              <a:t>/</a:t>
            </a:r>
            <a:r>
              <a:rPr lang="en-US" sz="900" dirty="0" err="1"/>
              <a:t>inlab</a:t>
            </a:r>
            <a:r>
              <a:rPr lang="en-US" sz="900" dirty="0"/>
              <a:t>-geo/</a:t>
            </a:r>
            <a:r>
              <a:rPr lang="en-US" sz="900" dirty="0" err="1"/>
              <a:t>pyrjmcmc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4A22DC-2CDC-8A07-AC8C-65A1BBB9959C}"/>
              </a:ext>
            </a:extLst>
          </p:cNvPr>
          <p:cNvSpPr txBox="1"/>
          <p:nvPr/>
        </p:nvSpPr>
        <p:spPr>
          <a:xfrm>
            <a:off x="4403586" y="2991515"/>
            <a:ext cx="21700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https://</a:t>
            </a:r>
            <a:r>
              <a:rPr lang="en-US" sz="900" dirty="0" err="1"/>
              <a:t>github.com</a:t>
            </a:r>
            <a:r>
              <a:rPr lang="en-US" sz="900" dirty="0"/>
              <a:t>/</a:t>
            </a:r>
            <a:r>
              <a:rPr lang="en-US" sz="900" dirty="0" err="1"/>
              <a:t>fmagrini</a:t>
            </a:r>
            <a:r>
              <a:rPr lang="en-US" sz="900" dirty="0"/>
              <a:t>/bayes-bay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F4D5EB-82F3-DA43-F6DF-AB7EEE9B2953}"/>
              </a:ext>
            </a:extLst>
          </p:cNvPr>
          <p:cNvSpPr txBox="1"/>
          <p:nvPr/>
        </p:nvSpPr>
        <p:spPr>
          <a:xfrm>
            <a:off x="1091578" y="4152401"/>
            <a:ext cx="217004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https://</a:t>
            </a:r>
            <a:r>
              <a:rPr lang="en-US" sz="900" dirty="0" err="1"/>
              <a:t>github.com</a:t>
            </a:r>
            <a:r>
              <a:rPr lang="en-US" sz="900" dirty="0"/>
              <a:t>/</a:t>
            </a:r>
            <a:r>
              <a:rPr lang="en-US" sz="900" dirty="0" err="1"/>
              <a:t>inlab</a:t>
            </a:r>
            <a:r>
              <a:rPr lang="en-US" sz="900" dirty="0"/>
              <a:t>-geo/</a:t>
            </a:r>
            <a:r>
              <a:rPr lang="en-US" sz="900" dirty="0" err="1"/>
              <a:t>pyTransC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48CA7BB-FF66-7E81-1636-127FDB37D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54" y="1471369"/>
            <a:ext cx="3888432" cy="26476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83D3DA6-C955-8E8C-0E9F-572EA95D05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4039" b="8395"/>
          <a:stretch>
            <a:fillRect/>
          </a:stretch>
        </p:blipFill>
        <p:spPr>
          <a:xfrm>
            <a:off x="5094841" y="3726379"/>
            <a:ext cx="2957581" cy="74442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8E1B912-8342-EF7D-CA83-93BDF36637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9415" y="1028175"/>
            <a:ext cx="3888432" cy="196334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D513F6B-D2C5-C381-9295-3DFA947D569A}"/>
              </a:ext>
            </a:extLst>
          </p:cNvPr>
          <p:cNvSpPr txBox="1"/>
          <p:nvPr/>
        </p:nvSpPr>
        <p:spPr>
          <a:xfrm>
            <a:off x="5243723" y="4536578"/>
            <a:ext cx="46587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emcee.readthedocs.io</a:t>
            </a:r>
            <a:r>
              <a:rPr lang="en-US" sz="1000" dirty="0"/>
              <a:t>/</a:t>
            </a:r>
            <a:r>
              <a:rPr lang="en-US" sz="1000" dirty="0" err="1"/>
              <a:t>en</a:t>
            </a:r>
            <a:r>
              <a:rPr lang="en-US" sz="1000" dirty="0"/>
              <a:t>/stable/</a:t>
            </a:r>
          </a:p>
        </p:txBody>
      </p:sp>
    </p:spTree>
    <p:extLst>
      <p:ext uri="{BB962C8B-B14F-4D97-AF65-F5344CB8AC3E}">
        <p14:creationId xmlns:p14="http://schemas.microsoft.com/office/powerpoint/2010/main" val="1792649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ACE2E-5045-F0D8-D80B-B5316884E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3BD88B-CD9D-EF0A-D796-C56880B78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sz="2800" dirty="0"/>
              <a:t>But what about my favourite metaheuristic optimiser?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475D9D-C8C6-0751-4402-ADA63F2AD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366" y="957138"/>
            <a:ext cx="4060701" cy="34168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6B08FA-6350-4847-B2E3-7E74A6B8866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830"/>
          <a:stretch/>
        </p:blipFill>
        <p:spPr>
          <a:xfrm>
            <a:off x="684145" y="3718563"/>
            <a:ext cx="3743839" cy="547371"/>
          </a:xfrm>
          <a:prstGeom prst="rect">
            <a:avLst/>
          </a:prstGeom>
        </p:spPr>
      </p:pic>
      <p:pic>
        <p:nvPicPr>
          <p:cNvPr id="18" name="Picture 17" descr="A green and yellow chart with black dots and numbers&#10;&#10;Description automatically generated">
            <a:extLst>
              <a:ext uri="{FF2B5EF4-FFF2-40B4-BE49-F238E27FC236}">
                <a16:creationId xmlns:a16="http://schemas.microsoft.com/office/drawing/2014/main" id="{022D8AC0-7483-F3A0-4B1D-94A07BE5F2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116" y="865670"/>
            <a:ext cx="2574032" cy="2574032"/>
          </a:xfrm>
          <a:prstGeom prst="rect">
            <a:avLst/>
          </a:prstGeom>
        </p:spPr>
      </p:pic>
      <p:pic>
        <p:nvPicPr>
          <p:cNvPr id="22" name="Picture 21" descr="A green and yellow chart with black dots&#10;&#10;Description automatically generated">
            <a:extLst>
              <a:ext uri="{FF2B5EF4-FFF2-40B4-BE49-F238E27FC236}">
                <a16:creationId xmlns:a16="http://schemas.microsoft.com/office/drawing/2014/main" id="{880C4C3E-671D-C20B-CFF6-ED9E6657BB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436" y="1799914"/>
            <a:ext cx="2466020" cy="2466020"/>
          </a:xfrm>
          <a:prstGeom prst="rect">
            <a:avLst/>
          </a:prstGeom>
        </p:spPr>
      </p:pic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D49928A-89C9-73B1-0125-15AED2AA4A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3577" y="4878250"/>
            <a:ext cx="288789" cy="95510"/>
          </a:xfrm>
        </p:spPr>
        <p:txBody>
          <a:bodyPr/>
          <a:lstStyle/>
          <a:p>
            <a:pPr algn="ctr"/>
            <a:fld id="{2ABE124A-B5C5-46E0-B944-45307B126769}" type="slidenum">
              <a:rPr lang="en-AU" smtClean="0"/>
              <a:pPr algn="ctr"/>
              <a:t>3</a:t>
            </a:fld>
            <a:r>
              <a:rPr lang="en-AU" dirty="0"/>
              <a:t> </a:t>
            </a:r>
          </a:p>
        </p:txBody>
      </p:sp>
      <p:pic>
        <p:nvPicPr>
          <p:cNvPr id="6" name="Picture 5" descr="A qr code with a few squares&#10;&#10;Description automatically generated">
            <a:extLst>
              <a:ext uri="{FF2B5EF4-FFF2-40B4-BE49-F238E27FC236}">
                <a16:creationId xmlns:a16="http://schemas.microsoft.com/office/drawing/2014/main" id="{B2C9062F-75DE-5A11-AEFA-288BB4D831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234" y="17345"/>
            <a:ext cx="771550" cy="771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72F21E-53D9-1CB0-7C76-C99A0FFBF935}"/>
              </a:ext>
            </a:extLst>
          </p:cNvPr>
          <p:cNvSpPr txBox="1"/>
          <p:nvPr/>
        </p:nvSpPr>
        <p:spPr>
          <a:xfrm>
            <a:off x="4752522" y="3591882"/>
            <a:ext cx="1474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www.inlab.au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AF5F36-AEC2-8EEB-4E29-7B2FD35D2563}"/>
              </a:ext>
            </a:extLst>
          </p:cNvPr>
          <p:cNvSpPr txBox="1"/>
          <p:nvPr/>
        </p:nvSpPr>
        <p:spPr>
          <a:xfrm>
            <a:off x="5585238" y="773341"/>
            <a:ext cx="23845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Border Collie Optimization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B561E3-1966-4097-0C9D-E9427C57F65B}"/>
              </a:ext>
            </a:extLst>
          </p:cNvPr>
          <p:cNvCxnSpPr>
            <a:cxnSpLocks/>
          </p:cNvCxnSpPr>
          <p:nvPr/>
        </p:nvCxnSpPr>
        <p:spPr>
          <a:xfrm flipH="1">
            <a:off x="8028384" y="1923678"/>
            <a:ext cx="326850" cy="747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D527BE3-2CA9-0E6B-139D-2CC94D7CA454}"/>
              </a:ext>
            </a:extLst>
          </p:cNvPr>
          <p:cNvSpPr txBox="1"/>
          <p:nvPr/>
        </p:nvSpPr>
        <p:spPr>
          <a:xfrm>
            <a:off x="7666975" y="1630013"/>
            <a:ext cx="12250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Global minimum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1F3D55-517E-8FF3-127C-AA2275ED55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7137" y="4545819"/>
            <a:ext cx="1440160" cy="58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934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C72A9-408A-3A06-57AF-12B09DB27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6F1AE4-36BD-D9BE-0651-7D532459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dirty="0"/>
              <a:t>Wrap up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C34EAE-85BB-03D5-17CA-C8366B91BA15}"/>
              </a:ext>
            </a:extLst>
          </p:cNvPr>
          <p:cNvSpPr txBox="1"/>
          <p:nvPr/>
        </p:nvSpPr>
        <p:spPr>
          <a:xfrm>
            <a:off x="383715" y="1173182"/>
            <a:ext cx="86409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Feedback:</a:t>
            </a:r>
          </a:p>
          <a:p>
            <a:pPr lvl="1"/>
            <a:r>
              <a:rPr lang="en-US" dirty="0"/>
              <a:t>Choosing priorities: Expanding the methods; the examples, building a community;</a:t>
            </a:r>
          </a:p>
          <a:p>
            <a:pPr lvl="1"/>
            <a:br>
              <a:rPr lang="en-US" dirty="0"/>
            </a:br>
            <a:r>
              <a:rPr lang="en-US" dirty="0"/>
              <a:t>Wishlist includes: scalability (HPC); new examples; automatic differentiation, Surrogate modelling. Link to new optimization and sampling packages…</a:t>
            </a:r>
          </a:p>
          <a:p>
            <a:endParaRPr lang="en-US" dirty="0"/>
          </a:p>
          <a:p>
            <a:r>
              <a:rPr lang="en-US" dirty="0"/>
              <a:t>Work with us &amp; get involved:</a:t>
            </a:r>
          </a:p>
          <a:p>
            <a:pPr lvl="1"/>
            <a:r>
              <a:rPr lang="en-AU" dirty="0"/>
              <a:t>c</a:t>
            </a:r>
            <a:r>
              <a:rPr lang="en-AU" dirty="0">
                <a:effectLst/>
              </a:rPr>
              <a:t>reating an application example using </a:t>
            </a:r>
            <a:r>
              <a:rPr lang="en-AU" dirty="0" err="1">
                <a:effectLst/>
              </a:rPr>
              <a:t>CoFI</a:t>
            </a:r>
            <a:r>
              <a:rPr lang="en-AU" dirty="0">
                <a:effectLst/>
              </a:rPr>
              <a:t> </a:t>
            </a:r>
          </a:p>
          <a:p>
            <a:endParaRPr lang="en-US" dirty="0"/>
          </a:p>
          <a:p>
            <a:r>
              <a:rPr lang="en-US" dirty="0"/>
              <a:t>join our slack community: 		raise an issue on </a:t>
            </a:r>
            <a:r>
              <a:rPr lang="en-US" dirty="0" err="1"/>
              <a:t>github</a:t>
            </a:r>
            <a:r>
              <a:rPr lang="en-US" dirty="0"/>
              <a:t>:</a:t>
            </a:r>
          </a:p>
          <a:p>
            <a:r>
              <a:rPr lang="en-US" dirty="0">
                <a:effectLst/>
              </a:rPr>
              <a:t>    </a:t>
            </a:r>
            <a:r>
              <a:rPr lang="en-AU" dirty="0">
                <a:effectLst/>
              </a:rPr>
              <a:t>http://</a:t>
            </a:r>
            <a:r>
              <a:rPr lang="en-AU" dirty="0" err="1">
                <a:effectLst/>
              </a:rPr>
              <a:t>inlab.au</a:t>
            </a:r>
            <a:r>
              <a:rPr lang="en-AU" dirty="0">
                <a:effectLst/>
              </a:rPr>
              <a:t>/community </a:t>
            </a:r>
            <a:r>
              <a:rPr lang="en-AU" dirty="0"/>
              <a:t>	    https://</a:t>
            </a:r>
            <a:r>
              <a:rPr lang="en-AU" dirty="0" err="1"/>
              <a:t>github.com</a:t>
            </a:r>
            <a:r>
              <a:rPr lang="en-AU" dirty="0"/>
              <a:t>/</a:t>
            </a:r>
            <a:r>
              <a:rPr lang="en-AU" dirty="0" err="1"/>
              <a:t>inlab</a:t>
            </a:r>
            <a:r>
              <a:rPr lang="en-AU" dirty="0"/>
              <a:t>-geo/</a:t>
            </a:r>
            <a:r>
              <a:rPr lang="en-AU" dirty="0" err="1"/>
              <a:t>cofi</a:t>
            </a:r>
            <a:r>
              <a:rPr lang="en-AU" dirty="0"/>
              <a:t>/issues</a:t>
            </a:r>
            <a:endParaRPr lang="en-AU" dirty="0">
              <a:effectLst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D519A5-5186-0432-5EB2-EF4AFE5B4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137" y="4545819"/>
            <a:ext cx="1440160" cy="585431"/>
          </a:xfrm>
          <a:prstGeom prst="rect">
            <a:avLst/>
          </a:prstGeom>
        </p:spPr>
      </p:pic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FD9A1DDA-41B3-525C-0539-89B1BF5950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3577" y="4878250"/>
            <a:ext cx="288789" cy="95510"/>
          </a:xfrm>
        </p:spPr>
        <p:txBody>
          <a:bodyPr/>
          <a:lstStyle/>
          <a:p>
            <a:pPr algn="ctr"/>
            <a:fld id="{2ABE124A-B5C5-46E0-B944-45307B126769}" type="slidenum">
              <a:rPr lang="en-AU" smtClean="0"/>
              <a:pPr algn="ctr"/>
              <a:t>4</a:t>
            </a:fld>
            <a:r>
              <a:rPr lang="en-AU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B02A91-3B90-0307-B8B8-17EB2BB6EC11}"/>
              </a:ext>
            </a:extLst>
          </p:cNvPr>
          <p:cNvSpPr txBox="1"/>
          <p:nvPr/>
        </p:nvSpPr>
        <p:spPr>
          <a:xfrm>
            <a:off x="1979712" y="651193"/>
            <a:ext cx="66213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This is an </a:t>
            </a:r>
            <a:r>
              <a:rPr lang="en-US" sz="3200" b="1" dirty="0">
                <a:solidFill>
                  <a:srgbClr val="C00000"/>
                </a:solidFill>
              </a:rPr>
              <a:t>open source </a:t>
            </a:r>
            <a:r>
              <a:rPr lang="en-US" sz="3200" dirty="0">
                <a:solidFill>
                  <a:srgbClr val="C00000"/>
                </a:solidFill>
              </a:rPr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1110601287"/>
      </p:ext>
    </p:extLst>
  </p:cSld>
  <p:clrMapOvr>
    <a:masterClrMapping/>
  </p:clrMapOvr>
</p:sld>
</file>

<file path=ppt/theme/theme1.xml><?xml version="1.0" encoding="utf-8"?>
<a:theme xmlns:a="http://schemas.openxmlformats.org/drawingml/2006/main" name="CSIRO horizontal">
  <a:themeElements>
    <a:clrScheme name="CSIRO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00A9CE"/>
      </a:accent1>
      <a:accent2>
        <a:srgbClr val="001D34"/>
      </a:accent2>
      <a:accent3>
        <a:srgbClr val="757579"/>
      </a:accent3>
      <a:accent4>
        <a:srgbClr val="1E22AA"/>
      </a:accent4>
      <a:accent5>
        <a:srgbClr val="007377"/>
      </a:accent5>
      <a:accent6>
        <a:srgbClr val="6D2077"/>
      </a:accent6>
      <a:hlink>
        <a:srgbClr val="004B87"/>
      </a:hlink>
      <a:folHlink>
        <a:srgbClr val="007A53"/>
      </a:folHlink>
    </a:clrScheme>
    <a:fontScheme name="CSIRO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16.9 Widescreen.potx" id="{4F9F179C-FC55-4406-9372-ACB71F56CD80}" vid="{4E4DF566-B70F-4928-80E7-694B9E9A2FBD}"/>
    </a:ext>
  </a:extLst>
</a:theme>
</file>

<file path=ppt/theme/theme2.xml><?xml version="1.0" encoding="utf-8"?>
<a:theme xmlns:a="http://schemas.openxmlformats.org/drawingml/2006/main" name="Data61 vertical">
  <a:themeElements>
    <a:clrScheme name="CSIRO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00A9CE"/>
      </a:accent1>
      <a:accent2>
        <a:srgbClr val="001D34"/>
      </a:accent2>
      <a:accent3>
        <a:srgbClr val="757579"/>
      </a:accent3>
      <a:accent4>
        <a:srgbClr val="1E22AA"/>
      </a:accent4>
      <a:accent5>
        <a:srgbClr val="007377"/>
      </a:accent5>
      <a:accent6>
        <a:srgbClr val="6D2077"/>
      </a:accent6>
      <a:hlink>
        <a:srgbClr val="004B87"/>
      </a:hlink>
      <a:folHlink>
        <a:srgbClr val="007A53"/>
      </a:folHlink>
    </a:clrScheme>
    <a:fontScheme name="CSIRO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16.9 Widescreen.potx" id="{4F9F179C-FC55-4406-9372-ACB71F56CD80}" vid="{0398C969-54DD-46EF-89D3-EBAEE5270F10}"/>
    </a:ext>
  </a:extLst>
</a:theme>
</file>

<file path=ppt/theme/theme3.xml><?xml version="1.0" encoding="utf-8"?>
<a:theme xmlns:a="http://schemas.openxmlformats.org/drawingml/2006/main" name="Data61 horizontal">
  <a:themeElements>
    <a:clrScheme name="CSIRO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00A9CE"/>
      </a:accent1>
      <a:accent2>
        <a:srgbClr val="001D34"/>
      </a:accent2>
      <a:accent3>
        <a:srgbClr val="757579"/>
      </a:accent3>
      <a:accent4>
        <a:srgbClr val="1E22AA"/>
      </a:accent4>
      <a:accent5>
        <a:srgbClr val="007377"/>
      </a:accent5>
      <a:accent6>
        <a:srgbClr val="6D2077"/>
      </a:accent6>
      <a:hlink>
        <a:srgbClr val="004B87"/>
      </a:hlink>
      <a:folHlink>
        <a:srgbClr val="007A53"/>
      </a:folHlink>
    </a:clrScheme>
    <a:fontScheme name="CSIRO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16.9 Widescreen.potx" id="{4F9F179C-FC55-4406-9372-ACB71F56CD80}" vid="{83853432-11B4-49DC-8E1B-8FA6CFB2F4E0}"/>
    </a:ext>
  </a:extLst>
</a:theme>
</file>

<file path=ppt/theme/theme4.xml><?xml version="1.0" encoding="utf-8"?>
<a:theme xmlns:a="http://schemas.openxmlformats.org/drawingml/2006/main" name="MNF vertical">
  <a:themeElements>
    <a:clrScheme name="CSIRO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00A9CE"/>
      </a:accent1>
      <a:accent2>
        <a:srgbClr val="001D34"/>
      </a:accent2>
      <a:accent3>
        <a:srgbClr val="757579"/>
      </a:accent3>
      <a:accent4>
        <a:srgbClr val="1E22AA"/>
      </a:accent4>
      <a:accent5>
        <a:srgbClr val="007377"/>
      </a:accent5>
      <a:accent6>
        <a:srgbClr val="6D2077"/>
      </a:accent6>
      <a:hlink>
        <a:srgbClr val="004B87"/>
      </a:hlink>
      <a:folHlink>
        <a:srgbClr val="007A53"/>
      </a:folHlink>
    </a:clrScheme>
    <a:fontScheme name="CSIRO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16.9 Widescreen.potx" id="{4F9F179C-FC55-4406-9372-ACB71F56CD80}" vid="{02E87599-44C4-42C3-BED7-5FF59534C5EF}"/>
    </a:ext>
  </a:extLst>
</a:theme>
</file>

<file path=ppt/theme/theme5.xml><?xml version="1.0" encoding="utf-8"?>
<a:theme xmlns:a="http://schemas.openxmlformats.org/drawingml/2006/main" name="MNF horizontal">
  <a:themeElements>
    <a:clrScheme name="CSIRO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00A9CE"/>
      </a:accent1>
      <a:accent2>
        <a:srgbClr val="001D34"/>
      </a:accent2>
      <a:accent3>
        <a:srgbClr val="757579"/>
      </a:accent3>
      <a:accent4>
        <a:srgbClr val="1E22AA"/>
      </a:accent4>
      <a:accent5>
        <a:srgbClr val="007377"/>
      </a:accent5>
      <a:accent6>
        <a:srgbClr val="6D2077"/>
      </a:accent6>
      <a:hlink>
        <a:srgbClr val="004B87"/>
      </a:hlink>
      <a:folHlink>
        <a:srgbClr val="007A53"/>
      </a:folHlink>
    </a:clrScheme>
    <a:fontScheme name="CSIRO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16.9 Widescreen.potx" id="{4F9F179C-FC55-4406-9372-ACB71F56CD80}" vid="{1D630F70-31C1-47EA-9A5C-0993FCC783EC}"/>
    </a:ext>
  </a:extLst>
</a:theme>
</file>

<file path=ppt/theme/theme6.xml><?xml version="1.0" encoding="utf-8"?>
<a:theme xmlns:a="http://schemas.openxmlformats.org/drawingml/2006/main" name="Wordmark vertical">
  <a:themeElements>
    <a:clrScheme name="CSIRO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00A9CE"/>
      </a:accent1>
      <a:accent2>
        <a:srgbClr val="001D34"/>
      </a:accent2>
      <a:accent3>
        <a:srgbClr val="757579"/>
      </a:accent3>
      <a:accent4>
        <a:srgbClr val="1E22AA"/>
      </a:accent4>
      <a:accent5>
        <a:srgbClr val="007377"/>
      </a:accent5>
      <a:accent6>
        <a:srgbClr val="6D2077"/>
      </a:accent6>
      <a:hlink>
        <a:srgbClr val="004B87"/>
      </a:hlink>
      <a:folHlink>
        <a:srgbClr val="007A53"/>
      </a:folHlink>
    </a:clrScheme>
    <a:fontScheme name="CSIRO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16.9 Widescreen.potx" id="{4F9F179C-FC55-4406-9372-ACB71F56CD80}" vid="{5D5CE2B9-9AB1-444B-84B0-F100492FB77D}"/>
    </a:ext>
  </a:extLst>
</a:theme>
</file>

<file path=ppt/theme/theme7.xml><?xml version="1.0" encoding="utf-8"?>
<a:theme xmlns:a="http://schemas.openxmlformats.org/drawingml/2006/main" name="Wordmark horizontal">
  <a:themeElements>
    <a:clrScheme name="CSIRO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00A9CE"/>
      </a:accent1>
      <a:accent2>
        <a:srgbClr val="001D34"/>
      </a:accent2>
      <a:accent3>
        <a:srgbClr val="757579"/>
      </a:accent3>
      <a:accent4>
        <a:srgbClr val="1E22AA"/>
      </a:accent4>
      <a:accent5>
        <a:srgbClr val="007377"/>
      </a:accent5>
      <a:accent6>
        <a:srgbClr val="6D2077"/>
      </a:accent6>
      <a:hlink>
        <a:srgbClr val="004B87"/>
      </a:hlink>
      <a:folHlink>
        <a:srgbClr val="007A53"/>
      </a:folHlink>
    </a:clrScheme>
    <a:fontScheme name="CSIRO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16.9 Widescreen.potx" id="{4F9F179C-FC55-4406-9372-ACB71F56CD80}" vid="{28CA8483-C027-4DC1-BB4B-A94F6F059FFD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CSIRO vertical</Template>
  <TotalTime>877</TotalTime>
  <Words>342</Words>
  <Application>Microsoft Macintosh PowerPoint</Application>
  <PresentationFormat>On-screen Show (16:9)</PresentationFormat>
  <Paragraphs>50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Arial</vt:lpstr>
      <vt:lpstr>Calibri</vt:lpstr>
      <vt:lpstr>CSIRO horizontal</vt:lpstr>
      <vt:lpstr>Data61 vertical</vt:lpstr>
      <vt:lpstr>Data61 horizontal</vt:lpstr>
      <vt:lpstr>MNF vertical</vt:lpstr>
      <vt:lpstr>MNF horizontal</vt:lpstr>
      <vt:lpstr>Wordmark vertical</vt:lpstr>
      <vt:lpstr>Wordmark horizontal</vt:lpstr>
      <vt:lpstr>Beyond this meeting</vt:lpstr>
      <vt:lpstr>Upcoming capabilities…</vt:lpstr>
      <vt:lpstr>But what about my favourite metaheuristic optimiser?</vt:lpstr>
      <vt:lpstr>Wrap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Hauser, Juerg (Mineral Resources, Black Mountain)</dc:creator>
  <cp:lastModifiedBy>Juerg Hauser</cp:lastModifiedBy>
  <cp:revision>115</cp:revision>
  <cp:lastPrinted>2024-02-06T05:29:14Z</cp:lastPrinted>
  <dcterms:created xsi:type="dcterms:W3CDTF">2024-01-02T22:42:33Z</dcterms:created>
  <dcterms:modified xsi:type="dcterms:W3CDTF">2025-06-29T05:59:56Z</dcterms:modified>
</cp:coreProperties>
</file>