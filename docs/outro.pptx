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3.xml" ContentType="application/vnd.openxmlformats-officedocument.theme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theme/theme4.xml" ContentType="application/vnd.openxmlformats-officedocument.theme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theme/theme5.xml" ContentType="application/vnd.openxmlformats-officedocument.theme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theme/theme6.xml" ContentType="application/vnd.openxmlformats-officedocument.theme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  <p:sldMasterId id="2147483745" r:id="rId2"/>
    <p:sldMasterId id="2147483765" r:id="rId3"/>
    <p:sldMasterId id="2147483781" r:id="rId4"/>
    <p:sldMasterId id="2147483801" r:id="rId5"/>
    <p:sldMasterId id="2147483709" r:id="rId6"/>
    <p:sldMasterId id="2147483729" r:id="rId7"/>
  </p:sldMasterIdLst>
  <p:notesMasterIdLst>
    <p:notesMasterId r:id="rId12"/>
  </p:notesMasterIdLst>
  <p:handoutMasterIdLst>
    <p:handoutMasterId r:id="rId13"/>
  </p:handoutMasterIdLst>
  <p:sldIdLst>
    <p:sldId id="18698" r:id="rId8"/>
    <p:sldId id="18696" r:id="rId9"/>
    <p:sldId id="18697" r:id="rId10"/>
    <p:sldId id="18691" r:id="rId11"/>
  </p:sldIdLst>
  <p:sldSz cx="9144000" cy="5143500" type="screen16x9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599">
          <p15:clr>
            <a:srgbClr val="A4A3A4"/>
          </p15:clr>
        </p15:guide>
        <p15:guide id="3" pos="2880">
          <p15:clr>
            <a:srgbClr val="A4A3A4"/>
          </p15:clr>
        </p15:guide>
        <p15:guide id="4" pos="5602" userDrawn="1">
          <p15:clr>
            <a:srgbClr val="A4A3A4"/>
          </p15:clr>
        </p15:guide>
        <p15:guide id="5" pos="15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A9CE"/>
    <a:srgbClr val="001D34"/>
    <a:srgbClr val="3D5D6B"/>
    <a:srgbClr val="007A53"/>
    <a:srgbClr val="004B87"/>
    <a:srgbClr val="DADBDC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6327" autoAdjust="0"/>
  </p:normalViewPr>
  <p:slideViewPr>
    <p:cSldViewPr showGuides="1">
      <p:cViewPr varScale="1">
        <p:scale>
          <a:sx n="170" d="100"/>
          <a:sy n="170" d="100"/>
        </p:scale>
        <p:origin x="1160" y="176"/>
      </p:cViewPr>
      <p:guideLst>
        <p:guide orient="horz" pos="1620"/>
        <p:guide orient="horz" pos="599"/>
        <p:guide pos="2880"/>
        <p:guide pos="5602"/>
        <p:guide pos="15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62" d="100"/>
        <a:sy n="162" d="100"/>
      </p:scale>
      <p:origin x="0" y="0"/>
    </p:cViewPr>
  </p:sorterViewPr>
  <p:notesViewPr>
    <p:cSldViewPr showGuides="1">
      <p:cViewPr varScale="1">
        <p:scale>
          <a:sx n="121" d="100"/>
          <a:sy n="121" d="100"/>
        </p:scale>
        <p:origin x="4938" y="114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handoutMaster" Target="handoutMasters/handoutMaster1.xml"/><Relationship Id="rId3" Type="http://schemas.openxmlformats.org/officeDocument/2006/relationships/slideMaster" Target="slideMasters/slideMaster3.xml"/><Relationship Id="rId7" Type="http://schemas.openxmlformats.org/officeDocument/2006/relationships/slideMaster" Target="slideMasters/slideMaster7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5" Type="http://schemas.openxmlformats.org/officeDocument/2006/relationships/slideMaster" Target="slideMasters/slideMaster5.xml"/><Relationship Id="rId15" Type="http://schemas.openxmlformats.org/officeDocument/2006/relationships/viewProps" Target="viewProps.xml"/><Relationship Id="rId10" Type="http://schemas.openxmlformats.org/officeDocument/2006/relationships/slide" Target="slides/slide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FA697C-5849-4DDF-A6C8-08E6893940F4}" type="datetimeFigureOut">
              <a:rPr lang="en-AU" smtClean="0"/>
              <a:pPr/>
              <a:t>17/6/2025</a:t>
            </a:fld>
            <a:endParaRPr lang="en-A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014AF-979A-46D9-9B43-4C67319580D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1444176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992BC2-9435-4D31-AEB3-5D5877AD6447}" type="datetimeFigureOut">
              <a:rPr lang="en-AU" smtClean="0"/>
              <a:pPr/>
              <a:t>17/6/2025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96215-5E4C-414D-A8DB-C38AA7CF7C2A}" type="slidenum">
              <a:rPr lang="en-AU" smtClean="0"/>
              <a:pPr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031835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9F00-782E-F683-91E7-91D427DC7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067F01-6F55-F889-4B74-27AD30F91E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1F15FD-998B-E448-DDD2-03A68B1F58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2F3272-5C05-53A6-E9A5-CF91E2EB9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37539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7777E-87D8-6239-1864-980BB22B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30476-AC50-1217-29A9-EBC511742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8714E-FDBA-3E18-6CC9-7561C177F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0D298-F156-9AFB-A6C8-83B1F6DE2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03250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B7777E-87D8-6239-1864-980BB22B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630476-AC50-1217-29A9-EBC511742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28714E-FDBA-3E18-6CC9-7561C177F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0D298-F156-9AFB-A6C8-83B1F6DE22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124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EA50B-99CC-76B9-9951-698F4D345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DF48D0-F7EB-8EE8-38F4-D6E61CA70B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D8FC67-965E-B547-A857-283B19D8A7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Horizon 1 – Overcomplete tomography represents a Horizon 1 concept in that it could in 3 years become part of established inversions method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02E5CA-6DDB-B0C4-FE4D-24F79A905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496215-5E4C-414D-A8DB-C38AA7CF7C2A}" type="slidenum">
              <a:rPr lang="en-AU" smtClean="0"/>
              <a:pPr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54469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4" Type="http://schemas.openxmlformats.org/officeDocument/2006/relationships/image" Target="../media/image5.svg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6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6.xml"/></Relationships>
</file>

<file path=ppt/slideLayouts/_rels/slideLayout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_rels/slideLayout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4329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181104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1520" y="267494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9040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964031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14257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23933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841686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65066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44168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6566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2744884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3843388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726317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8952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2A108-B854-40BC-AA72-4E9E7C74E58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81552" y="4177358"/>
            <a:ext cx="720080" cy="72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690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28AE86-1CD5-4E73-826D-CE2783C6AC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3226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6293303-2843-4D52-97D9-AF77676C9C3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0146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920DF2-0C7F-4A3B-9BAF-D692009CA0D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2708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69083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15323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932665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0118013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973959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5548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183587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0424757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35766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76259452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9827424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1306665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1828722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4584692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A54D81D-7CFA-4E8D-924E-F049F52C1BE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40700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BF62FF1-8277-4CEC-A22F-7E8130E254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9568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7785B6E-E88B-43F0-AF0F-FE873692AB6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70327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684076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FF943A-2EFE-4939-9416-AA45E8893D6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6412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6516216" y="582251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A196B7-7271-40B8-B951-8FDD29916E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267494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2782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1746455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1124826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5875990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3481746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81558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6849979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819441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06382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500638488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0984940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86DC4BE-CEEE-431B-9F14-9C57722140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11303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6984776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38541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794113-D310-44FA-B463-B20C679AB5D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887" y="4177438"/>
            <a:ext cx="152274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22167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E31894D-BB7F-4DA8-8D6C-C5A7A751E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A711503A-192E-4575-80CF-A393277570CC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21959342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3F349AB-7817-4CF8-9EFC-2CD503B23F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5BB22E12-9556-46D6-9897-3CA8F81E5AF4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2223766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2589A1-48A8-4C4C-9006-4BAA8009E45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3687" y="413437"/>
            <a:ext cx="4316625" cy="4316625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2EE9FCB-7566-4817-BC3E-151216DAC5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7F65CF7-BE56-42AE-89A3-8632383904C9}"/>
              </a:ext>
            </a:extLst>
          </p:cNvPr>
          <p:cNvSpPr/>
          <p:nvPr userDrawn="1"/>
        </p:nvSpPr>
        <p:spPr>
          <a:xfrm>
            <a:off x="251520" y="4711673"/>
            <a:ext cx="3024336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351360208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4847982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5788638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2855012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1506684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24958222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00733177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50140729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9032678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4840736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7592283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32496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073846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660087836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6900272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93E1FEB1-B064-4A02-9F41-042BA4A65F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9D8E361E-CD87-443C-800B-4A44210D567D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098406186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95896B-47EC-4FA1-B742-A753A24055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19" y="267494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DCE8BE1-B123-4F39-B7B9-5731EE8B58DC}"/>
              </a:ext>
            </a:extLst>
          </p:cNvPr>
          <p:cNvSpPr/>
          <p:nvPr userDrawn="1"/>
        </p:nvSpPr>
        <p:spPr>
          <a:xfrm>
            <a:off x="251520" y="4711673"/>
            <a:ext cx="32403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</a:t>
            </a:r>
          </a:p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534252354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387BE29-1632-4D81-AE78-54533B5FB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8690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576064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1CABD70-4867-48FD-AC0D-DCF015F1B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ED3FF37-CBD0-4006-BB03-019DB869F03D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864751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652120" y="470994"/>
            <a:ext cx="324951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Operated by CSIRO, Australia’s National Science Agency, </a:t>
            </a:r>
            <a:br>
              <a:rPr lang="en-AU" sz="1000" dirty="0">
                <a:solidFill>
                  <a:schemeClr val="bg1"/>
                </a:solidFill>
              </a:rPr>
            </a:br>
            <a:r>
              <a:rPr lang="en-AU" sz="1000" dirty="0">
                <a:solidFill>
                  <a:schemeClr val="bg1"/>
                </a:solidFill>
              </a:rPr>
              <a:t>on behalf of the nation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4E7955D-800C-4935-BA3F-A34E93CC02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1520" y="267494"/>
            <a:ext cx="2731182" cy="68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219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4639224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6475195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64275479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41933950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995410454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4887027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13211729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63516796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870715767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0078357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5760640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95FEBB1-2FB4-404D-B517-C1502B5932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93F3E07-2251-45C6-9608-F9B7BC275A58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720923153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576064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826E1E94-9471-4672-BA14-8DD18A74F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70450" y="4213438"/>
            <a:ext cx="2731182" cy="6840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1CBBD1A7-F5C4-41D4-8812-4A43FA84033A}"/>
              </a:ext>
            </a:extLst>
          </p:cNvPr>
          <p:cNvSpPr/>
          <p:nvPr userDrawn="1"/>
        </p:nvSpPr>
        <p:spPr>
          <a:xfrm>
            <a:off x="251520" y="4850173"/>
            <a:ext cx="518457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Operated by CSIRO, Australia’s National Science Agency, on behalf of the nation</a:t>
            </a:r>
          </a:p>
        </p:txBody>
      </p:sp>
    </p:spTree>
    <p:extLst>
      <p:ext uri="{BB962C8B-B14F-4D97-AF65-F5344CB8AC3E}">
        <p14:creationId xmlns:p14="http://schemas.microsoft.com/office/powerpoint/2010/main" val="1616746899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D0E9AAB-FD72-2643-BFC4-B94B291F6BA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672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779662"/>
            <a:ext cx="3600400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3651870"/>
            <a:ext cx="3600400" cy="576064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3B9622D-F19E-432D-860A-326029CCE7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2353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158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2880">
          <p15:clr>
            <a:srgbClr val="FBAE40"/>
          </p15:clr>
        </p15:guide>
        <p15:guide id="4" pos="5602">
          <p15:clr>
            <a:srgbClr val="FBAE40"/>
          </p15:clr>
        </p15:guide>
      </p15:sldGuideLst>
    </p:ext>
  </p:extLst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EA4BEA-90AA-46F4-829C-BDC63E08AE8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09831" y="411510"/>
            <a:ext cx="4324337" cy="432048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10789197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B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D406DC2-4C63-CE6E-8989-E5CBD84A96E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60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2107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C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A1AF00-555A-4FD8-DF4E-B5BCF4779CE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11759" y="409582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84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globe D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054777"/>
            <a:ext cx="2016224" cy="1728192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6C8B3A7-6D79-4B41-84C1-E8DAF3E537D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42C4274-80E7-4D13-B882-F2E3C65753AE}"/>
              </a:ext>
            </a:extLst>
          </p:cNvPr>
          <p:cNvSpPr/>
          <p:nvPr userDrawn="1"/>
        </p:nvSpPr>
        <p:spPr>
          <a:xfrm>
            <a:off x="251520" y="4850173"/>
            <a:ext cx="3024336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C90276-62BF-55D4-CEF4-D7FFC9C5977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11759" y="411510"/>
            <a:ext cx="4320479" cy="4320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43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  <p15:guide id="3" pos="5602">
          <p15:clr>
            <a:srgbClr val="FBAE40"/>
          </p15:clr>
        </p15:guide>
        <p15:guide id="4" pos="158">
          <p15:clr>
            <a:srgbClr val="FBAE40"/>
          </p15:clr>
        </p15:guide>
      </p15:sldGuideLst>
    </p:ext>
  </p:extLst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752781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5559165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998137099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707654"/>
            <a:ext cx="8640958" cy="3024336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843558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7225306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4976071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5058857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 with catalyst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8600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665854"/>
            <a:ext cx="4038600" cy="306613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38700" y="1665854"/>
            <a:ext cx="4038600" cy="3066136"/>
          </a:xfrm>
        </p:spPr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1800">
                <a:solidFill>
                  <a:schemeClr val="bg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8750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51072430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half horizontal image (about us onl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0" y="2767500"/>
            <a:ext cx="9143999" cy="23760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15437075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+ half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4032446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403244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1" y="4878250"/>
            <a:ext cx="3682598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35123959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 + quarte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853836" y="0"/>
            <a:ext cx="2282400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550788"/>
            <a:ext cx="6336702" cy="3181202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51520" y="805458"/>
            <a:ext cx="6336704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601370" y="4878250"/>
            <a:ext cx="5986853" cy="95510"/>
          </a:xfrm>
        </p:spPr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619339810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53952526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94395556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7538541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17B52948-05FD-444E-9ADC-BA5285595A7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571999" y="0"/>
            <a:ext cx="4563963" cy="51435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1851670"/>
            <a:ext cx="3960440" cy="2525068"/>
          </a:xfrm>
        </p:spPr>
        <p:txBody>
          <a:bodyPr/>
          <a:lstStyle>
            <a:lvl1pPr marL="0" indent="0"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917595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275605"/>
            <a:ext cx="7056784" cy="2736305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81180501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2571750"/>
            <a:ext cx="3600400" cy="2160240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915566"/>
            <a:ext cx="3600399" cy="1440160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16B03B6-C4D9-4B46-A461-4BD384CE34C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652318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1851670"/>
            <a:ext cx="3600400" cy="2847245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tabLst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tabLst/>
              <a:defRPr sz="1600">
                <a:solidFill>
                  <a:schemeClr val="tx1"/>
                </a:solidFill>
              </a:defRPr>
            </a:lvl2pPr>
            <a:lvl3pPr marL="0" indent="0" algn="l">
              <a:lnSpc>
                <a:spcPct val="90000"/>
              </a:lnSpc>
              <a:spcBef>
                <a:spcPts val="0"/>
              </a:spcBef>
              <a:buNone/>
              <a:tabLst/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9" name="Rectangle 28"/>
          <p:cNvSpPr/>
          <p:nvPr userDrawn="1"/>
        </p:nvSpPr>
        <p:spPr>
          <a:xfrm>
            <a:off x="251520" y="4850173"/>
            <a:ext cx="288032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520" y="1136676"/>
            <a:ext cx="3672408" cy="63936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CF8021B-8237-44DA-97CC-7AE087B0EF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11539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9FD9A8B-B204-4EC3-9CD2-BA2AD366ED5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5482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2859782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4096622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251520" y="4850173"/>
            <a:ext cx="3096344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sp>
        <p:nvSpPr>
          <p:cNvPr id="8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06C1F87-268D-4E82-9F10-8C710E20EE9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085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+ partner logo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0" y="-20538"/>
            <a:ext cx="9144000" cy="2595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" name="Title 1"/>
          <p:cNvSpPr>
            <a:spLocks noGrp="1"/>
          </p:cNvSpPr>
          <p:nvPr userDrawn="1">
            <p:ph type="ctrTitle"/>
          </p:nvPr>
        </p:nvSpPr>
        <p:spPr>
          <a:xfrm>
            <a:off x="251520" y="1203598"/>
            <a:ext cx="7930032" cy="1153507"/>
          </a:xfrm>
        </p:spPr>
        <p:txBody>
          <a:bodyPr anchor="b" anchorCtr="0">
            <a:normAutofit/>
          </a:bodyPr>
          <a:lstStyle>
            <a:lvl1pPr algn="l">
              <a:lnSpc>
                <a:spcPct val="90000"/>
              </a:lnSpc>
              <a:defRPr sz="36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/>
          </p:nvPr>
        </p:nvSpPr>
        <p:spPr>
          <a:xfrm>
            <a:off x="251520" y="2922403"/>
            <a:ext cx="7200800" cy="273948"/>
          </a:xfrm>
        </p:spPr>
        <p:txBody>
          <a:bodyPr>
            <a:normAutofit/>
          </a:bodyPr>
          <a:lstStyle>
            <a:lvl1pPr marL="0" indent="0" algn="l">
              <a:buNone/>
              <a:defRPr sz="2000" b="0">
                <a:solidFill>
                  <a:schemeClr val="accent3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AU" dirty="0"/>
          </a:p>
        </p:txBody>
      </p:sp>
      <p:sp>
        <p:nvSpPr>
          <p:cNvPr id="7" name="Rectangle 6"/>
          <p:cNvSpPr/>
          <p:nvPr userDrawn="1"/>
        </p:nvSpPr>
        <p:spPr>
          <a:xfrm>
            <a:off x="5940152" y="582251"/>
            <a:ext cx="2961480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90000"/>
              </a:lnSpc>
            </a:pPr>
            <a:r>
              <a:rPr lang="en-AU" sz="1000" dirty="0">
                <a:solidFill>
                  <a:schemeClr val="bg1"/>
                </a:solidFill>
              </a:rPr>
              <a:t>Australia’s National Science Agency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9876AC-9600-4B4D-B446-34DCB05E2B8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312929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413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80">
          <p15:clr>
            <a:srgbClr val="FBAE40"/>
          </p15:clr>
        </p15:guide>
        <p15:guide id="2" orient="horz" pos="1620">
          <p15:clr>
            <a:srgbClr val="FBAE40"/>
          </p15:clr>
        </p15:guide>
      </p15:sldGuideLst>
    </p:ext>
  </p:extLst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35857608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747962759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2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numCol="2" spcCol="360000"/>
          <a:lstStyle>
            <a:lvl1pPr>
              <a:defRPr sz="2400"/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06312949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2" y="1131590"/>
            <a:ext cx="8640958" cy="3070944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261850" y="267494"/>
            <a:ext cx="8630630" cy="6399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0">
                <a:solidFill>
                  <a:schemeClr val="accent3"/>
                </a:solidFill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buNone/>
              <a:defRPr sz="2200" b="0">
                <a:solidFill>
                  <a:schemeClr val="accent2"/>
                </a:solidFill>
              </a:defRPr>
            </a:lvl2pPr>
            <a:lvl3pPr>
              <a:buNone/>
              <a:defRPr sz="2800">
                <a:solidFill>
                  <a:srgbClr val="00A9CE"/>
                </a:solidFill>
              </a:defRPr>
            </a:lvl3pPr>
            <a:lvl4pPr>
              <a:buNone/>
              <a:defRPr sz="2800">
                <a:solidFill>
                  <a:srgbClr val="00A9CE"/>
                </a:solidFill>
              </a:defRPr>
            </a:lvl4pPr>
            <a:lvl5pPr>
              <a:buNone/>
              <a:defRPr sz="2800">
                <a:solidFill>
                  <a:srgbClr val="00A9CE"/>
                </a:solidFill>
              </a:defRPr>
            </a:lvl5pPr>
          </a:lstStyle>
          <a:p>
            <a:pPr lvl="0"/>
            <a:r>
              <a:rPr lang="en-US" dirty="0"/>
              <a:t>Click to edit Master title style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723046482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520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4295" y="1131590"/>
            <a:ext cx="4038600" cy="331236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00104707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110224283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 - dar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5040136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4538494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ement Layou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5">
            <a:extLst>
              <a:ext uri="{FF2B5EF4-FFF2-40B4-BE49-F238E27FC236}">
                <a16:creationId xmlns:a16="http://schemas.microsoft.com/office/drawing/2014/main" id="{55556648-49D5-4B5B-92D5-2DB59DEB59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" y="0"/>
            <a:ext cx="9162000" cy="2577600"/>
          </a:xfrm>
          <a:solidFill>
            <a:schemeClr val="accent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AU" dirty="0"/>
          </a:p>
        </p:txBody>
      </p:sp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251520" y="2859782"/>
            <a:ext cx="7920880" cy="2016224"/>
          </a:xfrm>
        </p:spPr>
        <p:txBody>
          <a:bodyPr/>
          <a:lstStyle>
            <a:lvl1pPr>
              <a:lnSpc>
                <a:spcPct val="85000"/>
              </a:lnSpc>
              <a:spcAft>
                <a:spcPts val="0"/>
              </a:spcAft>
              <a:buFontTx/>
              <a:buNone/>
              <a:defRPr sz="4000" b="0">
                <a:solidFill>
                  <a:schemeClr val="accent3"/>
                </a:solidFill>
              </a:defRPr>
            </a:lvl1pPr>
            <a:lvl2pPr marL="0" indent="0">
              <a:lnSpc>
                <a:spcPct val="85000"/>
              </a:lnSpc>
              <a:spcAft>
                <a:spcPts val="0"/>
              </a:spcAft>
              <a:buNone/>
              <a:defRPr sz="4000" b="0">
                <a:solidFill>
                  <a:schemeClr val="accent2"/>
                </a:solidFill>
              </a:defRPr>
            </a:lvl2pPr>
            <a:lvl3pPr marL="0" indent="0">
              <a:spcBef>
                <a:spcPts val="2200"/>
              </a:spcBef>
              <a:buNone/>
              <a:defRPr b="1">
                <a:solidFill>
                  <a:srgbClr val="00313C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50606576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Text Placeholder 8"/>
          <p:cNvSpPr>
            <a:spLocks noGrp="1"/>
          </p:cNvSpPr>
          <p:nvPr>
            <p:ph type="body" sz="quarter" idx="10"/>
          </p:nvPr>
        </p:nvSpPr>
        <p:spPr>
          <a:xfrm>
            <a:off x="251520" y="1131590"/>
            <a:ext cx="7200800" cy="3600400"/>
          </a:xfrm>
        </p:spPr>
        <p:txBody>
          <a:bodyPr anchor="b" anchorCtr="0"/>
          <a:lstStyle>
            <a:lvl1pPr marL="0" indent="0">
              <a:spcAft>
                <a:spcPts val="0"/>
              </a:spcAft>
              <a:buFontTx/>
              <a:buNone/>
              <a:defRPr sz="4400" b="0">
                <a:solidFill>
                  <a:schemeClr val="accent1"/>
                </a:solidFill>
              </a:defRPr>
            </a:lvl1pPr>
            <a:lvl2pPr marL="0" indent="0">
              <a:lnSpc>
                <a:spcPct val="75000"/>
              </a:lnSpc>
              <a:spcAft>
                <a:spcPts val="850"/>
              </a:spcAft>
              <a:buNone/>
              <a:defRPr sz="4400" b="0">
                <a:solidFill>
                  <a:schemeClr val="bg1"/>
                </a:solidFill>
              </a:defRPr>
            </a:lvl2pPr>
            <a:lvl3pPr marL="0" indent="0">
              <a:buNone/>
              <a:defRPr sz="2200" b="1">
                <a:solidFill>
                  <a:srgbClr val="FFFFFF"/>
                </a:solidFill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2272121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579862"/>
            <a:ext cx="6048672" cy="1008112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23" name="Title 22"/>
          <p:cNvSpPr>
            <a:spLocks noGrp="1"/>
          </p:cNvSpPr>
          <p:nvPr>
            <p:ph type="title"/>
          </p:nvPr>
        </p:nvSpPr>
        <p:spPr>
          <a:xfrm>
            <a:off x="251521" y="2715766"/>
            <a:ext cx="6048671" cy="576064"/>
          </a:xfrm>
        </p:spPr>
        <p:txBody>
          <a:bodyPr anchor="b" anchorCtr="0">
            <a:noAutofit/>
          </a:bodyPr>
          <a:lstStyle>
            <a:lvl1pPr>
              <a:defRPr sz="360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44" name="Rectangle 43"/>
          <p:cNvSpPr/>
          <p:nvPr userDrawn="1"/>
        </p:nvSpPr>
        <p:spPr>
          <a:xfrm>
            <a:off x="251520" y="4850173"/>
            <a:ext cx="2952328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B0BF06-28AD-4AE0-B95F-477AF982B2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465319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 Option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0D40E9F-1680-46D9-A966-C00787EC8DC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1051" y="4560533"/>
            <a:ext cx="1567204" cy="360000"/>
          </a:xfrm>
          <a:prstGeom prst="rect">
            <a:avLst/>
          </a:prstGeom>
        </p:spPr>
      </p:pic>
      <p:sp>
        <p:nvSpPr>
          <p:cNvPr id="4" name="Rectangle 3"/>
          <p:cNvSpPr/>
          <p:nvPr userDrawn="1"/>
        </p:nvSpPr>
        <p:spPr>
          <a:xfrm>
            <a:off x="0" y="0"/>
            <a:ext cx="9144000" cy="25717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51520" y="3075806"/>
            <a:ext cx="7200800" cy="1623109"/>
          </a:xfrm>
        </p:spPr>
        <p:txBody>
          <a:bodyPr numCol="2" spcCol="360000">
            <a:normAutofit/>
          </a:bodyPr>
          <a:lstStyle>
            <a:lvl1pPr marL="0" indent="0" algn="l">
              <a:lnSpc>
                <a:spcPct val="90000"/>
              </a:lnSpc>
              <a:spcBef>
                <a:spcPts val="3000"/>
              </a:spcBef>
              <a:buNone/>
              <a:defRPr sz="1600" b="1">
                <a:solidFill>
                  <a:schemeClr val="tx1"/>
                </a:solidFill>
              </a:defRPr>
            </a:lvl1pPr>
            <a:lvl2pPr marL="0" indent="0" algn="l">
              <a:lnSpc>
                <a:spcPct val="90000"/>
              </a:lnSpc>
              <a:spcBef>
                <a:spcPts val="0"/>
              </a:spcBef>
              <a:spcAft>
                <a:spcPts val="563"/>
              </a:spcAft>
              <a:buNone/>
              <a:defRPr sz="1600">
                <a:solidFill>
                  <a:schemeClr val="tx1"/>
                </a:solidFill>
              </a:defRPr>
            </a:lvl2pPr>
            <a:lvl3pPr marL="266400" indent="-266400" algn="l">
              <a:lnSpc>
                <a:spcPct val="90000"/>
              </a:lnSpc>
              <a:spcBef>
                <a:spcPts val="0"/>
              </a:spcBef>
              <a:buNone/>
              <a:tabLst>
                <a:tab pos="356400" algn="l"/>
              </a:tabLst>
              <a:defRPr sz="1600">
                <a:solidFill>
                  <a:schemeClr val="tx1"/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/>
          <p:cNvSpPr/>
          <p:nvPr userDrawn="1"/>
        </p:nvSpPr>
        <p:spPr>
          <a:xfrm>
            <a:off x="251520" y="4850173"/>
            <a:ext cx="2808312" cy="1384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lang="en-AU" sz="1000" dirty="0">
                <a:solidFill>
                  <a:schemeClr val="accent3"/>
                </a:solidFill>
              </a:rPr>
              <a:t>Australia’s National Science Agency</a:t>
            </a:r>
          </a:p>
        </p:txBody>
      </p:sp>
    </p:spTree>
    <p:extLst>
      <p:ext uri="{BB962C8B-B14F-4D97-AF65-F5344CB8AC3E}">
        <p14:creationId xmlns:p14="http://schemas.microsoft.com/office/powerpoint/2010/main" val="3214813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33.xml"/><Relationship Id="rId3" Type="http://schemas.openxmlformats.org/officeDocument/2006/relationships/slideLayout" Target="../slideLayouts/slideLayout18.xml"/><Relationship Id="rId21" Type="http://schemas.openxmlformats.org/officeDocument/2006/relationships/image" Target="../media/image2.emf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32.xml"/><Relationship Id="rId2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31.xml"/><Relationship Id="rId20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19" Type="http://schemas.openxmlformats.org/officeDocument/2006/relationships/slideLayout" Target="../slideLayouts/slideLayout34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image" Target="../media/image2.emf"/><Relationship Id="rId2" Type="http://schemas.openxmlformats.org/officeDocument/2006/relationships/slideLayout" Target="../slideLayouts/slideLayout36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7.xml"/><Relationship Id="rId13" Type="http://schemas.openxmlformats.org/officeDocument/2006/relationships/slideLayout" Target="../slideLayouts/slideLayout62.xml"/><Relationship Id="rId18" Type="http://schemas.openxmlformats.org/officeDocument/2006/relationships/slideLayout" Target="../slideLayouts/slideLayout67.xml"/><Relationship Id="rId3" Type="http://schemas.openxmlformats.org/officeDocument/2006/relationships/slideLayout" Target="../slideLayouts/slideLayout52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56.xml"/><Relationship Id="rId12" Type="http://schemas.openxmlformats.org/officeDocument/2006/relationships/slideLayout" Target="../slideLayouts/slideLayout61.xml"/><Relationship Id="rId17" Type="http://schemas.openxmlformats.org/officeDocument/2006/relationships/slideLayout" Target="../slideLayouts/slideLayout66.xml"/><Relationship Id="rId2" Type="http://schemas.openxmlformats.org/officeDocument/2006/relationships/slideLayout" Target="../slideLayouts/slideLayout51.xml"/><Relationship Id="rId16" Type="http://schemas.openxmlformats.org/officeDocument/2006/relationships/slideLayout" Target="../slideLayouts/slideLayout65.xml"/><Relationship Id="rId20" Type="http://schemas.openxmlformats.org/officeDocument/2006/relationships/theme" Target="../theme/theme4.xml"/><Relationship Id="rId1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60.xml"/><Relationship Id="rId5" Type="http://schemas.openxmlformats.org/officeDocument/2006/relationships/slideLayout" Target="../slideLayouts/slideLayout54.xml"/><Relationship Id="rId15" Type="http://schemas.openxmlformats.org/officeDocument/2006/relationships/slideLayout" Target="../slideLayouts/slideLayout64.xml"/><Relationship Id="rId10" Type="http://schemas.openxmlformats.org/officeDocument/2006/relationships/slideLayout" Target="../slideLayouts/slideLayout59.xml"/><Relationship Id="rId19" Type="http://schemas.openxmlformats.org/officeDocument/2006/relationships/slideLayout" Target="../slideLayouts/slideLayout68.xml"/><Relationship Id="rId4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8.xml"/><Relationship Id="rId14" Type="http://schemas.openxmlformats.org/officeDocument/2006/relationships/slideLayout" Target="../slideLayouts/slideLayout63.xml"/><Relationship Id="rId22" Type="http://schemas.openxmlformats.org/officeDocument/2006/relationships/image" Target="../media/image5.sv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6.xml"/><Relationship Id="rId13" Type="http://schemas.openxmlformats.org/officeDocument/2006/relationships/slideLayout" Target="../slideLayouts/slideLayout81.xml"/><Relationship Id="rId18" Type="http://schemas.openxmlformats.org/officeDocument/2006/relationships/image" Target="../media/image5.svg"/><Relationship Id="rId3" Type="http://schemas.openxmlformats.org/officeDocument/2006/relationships/slideLayout" Target="../slideLayouts/slideLayout71.xml"/><Relationship Id="rId7" Type="http://schemas.openxmlformats.org/officeDocument/2006/relationships/slideLayout" Target="../slideLayouts/slideLayout75.xml"/><Relationship Id="rId12" Type="http://schemas.openxmlformats.org/officeDocument/2006/relationships/slideLayout" Target="../slideLayouts/slideLayout80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70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9.xml"/><Relationship Id="rId6" Type="http://schemas.openxmlformats.org/officeDocument/2006/relationships/slideLayout" Target="../slideLayouts/slideLayout74.xml"/><Relationship Id="rId11" Type="http://schemas.openxmlformats.org/officeDocument/2006/relationships/slideLayout" Target="../slideLayouts/slideLayout79.xml"/><Relationship Id="rId5" Type="http://schemas.openxmlformats.org/officeDocument/2006/relationships/slideLayout" Target="../slideLayouts/slideLayout73.xml"/><Relationship Id="rId15" Type="http://schemas.openxmlformats.org/officeDocument/2006/relationships/slideLayout" Target="../slideLayouts/slideLayout83.xml"/><Relationship Id="rId10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14" Type="http://schemas.openxmlformats.org/officeDocument/2006/relationships/slideLayout" Target="../slideLayouts/slideLayout82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1.xml"/><Relationship Id="rId13" Type="http://schemas.openxmlformats.org/officeDocument/2006/relationships/slideLayout" Target="../slideLayouts/slideLayout96.xml"/><Relationship Id="rId18" Type="http://schemas.openxmlformats.org/officeDocument/2006/relationships/slideLayout" Target="../slideLayouts/slideLayout101.xml"/><Relationship Id="rId3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104.xml"/><Relationship Id="rId7" Type="http://schemas.openxmlformats.org/officeDocument/2006/relationships/slideLayout" Target="../slideLayouts/slideLayout90.xml"/><Relationship Id="rId12" Type="http://schemas.openxmlformats.org/officeDocument/2006/relationships/slideLayout" Target="../slideLayouts/slideLayout95.xml"/><Relationship Id="rId17" Type="http://schemas.openxmlformats.org/officeDocument/2006/relationships/slideLayout" Target="../slideLayouts/slideLayout100.xml"/><Relationship Id="rId25" Type="http://schemas.openxmlformats.org/officeDocument/2006/relationships/image" Target="../media/image7.emf"/><Relationship Id="rId2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99.xml"/><Relationship Id="rId20" Type="http://schemas.openxmlformats.org/officeDocument/2006/relationships/slideLayout" Target="../slideLayouts/slideLayout103.xml"/><Relationship Id="rId1" Type="http://schemas.openxmlformats.org/officeDocument/2006/relationships/slideLayout" Target="../slideLayouts/slideLayout84.xml"/><Relationship Id="rId6" Type="http://schemas.openxmlformats.org/officeDocument/2006/relationships/slideLayout" Target="../slideLayouts/slideLayout89.xml"/><Relationship Id="rId11" Type="http://schemas.openxmlformats.org/officeDocument/2006/relationships/slideLayout" Target="../slideLayouts/slideLayout94.xml"/><Relationship Id="rId24" Type="http://schemas.openxmlformats.org/officeDocument/2006/relationships/theme" Target="../theme/theme6.xml"/><Relationship Id="rId5" Type="http://schemas.openxmlformats.org/officeDocument/2006/relationships/slideLayout" Target="../slideLayouts/slideLayout88.xml"/><Relationship Id="rId15" Type="http://schemas.openxmlformats.org/officeDocument/2006/relationships/slideLayout" Target="../slideLayouts/slideLayout98.xml"/><Relationship Id="rId23" Type="http://schemas.openxmlformats.org/officeDocument/2006/relationships/slideLayout" Target="../slideLayouts/slideLayout106.xml"/><Relationship Id="rId10" Type="http://schemas.openxmlformats.org/officeDocument/2006/relationships/slideLayout" Target="../slideLayouts/slideLayout93.xml"/><Relationship Id="rId19" Type="http://schemas.openxmlformats.org/officeDocument/2006/relationships/slideLayout" Target="../slideLayouts/slideLayout102.xml"/><Relationship Id="rId4" Type="http://schemas.openxmlformats.org/officeDocument/2006/relationships/slideLayout" Target="../slideLayouts/slideLayout87.xml"/><Relationship Id="rId9" Type="http://schemas.openxmlformats.org/officeDocument/2006/relationships/slideLayout" Target="../slideLayouts/slideLayout92.xml"/><Relationship Id="rId14" Type="http://schemas.openxmlformats.org/officeDocument/2006/relationships/slideLayout" Target="../slideLayouts/slideLayout97.xml"/><Relationship Id="rId22" Type="http://schemas.openxmlformats.org/officeDocument/2006/relationships/slideLayout" Target="../slideLayouts/slideLayout105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4.xml"/><Relationship Id="rId13" Type="http://schemas.openxmlformats.org/officeDocument/2006/relationships/slideLayout" Target="../slideLayouts/slideLayout119.xml"/><Relationship Id="rId3" Type="http://schemas.openxmlformats.org/officeDocument/2006/relationships/slideLayout" Target="../slideLayouts/slideLayout109.xml"/><Relationship Id="rId7" Type="http://schemas.openxmlformats.org/officeDocument/2006/relationships/slideLayout" Target="../slideLayouts/slideLayout113.xml"/><Relationship Id="rId12" Type="http://schemas.openxmlformats.org/officeDocument/2006/relationships/slideLayout" Target="../slideLayouts/slideLayout118.xml"/><Relationship Id="rId17" Type="http://schemas.openxmlformats.org/officeDocument/2006/relationships/image" Target="../media/image7.emf"/><Relationship Id="rId2" Type="http://schemas.openxmlformats.org/officeDocument/2006/relationships/slideLayout" Target="../slideLayouts/slideLayout108.xml"/><Relationship Id="rId16" Type="http://schemas.openxmlformats.org/officeDocument/2006/relationships/theme" Target="../theme/theme7.xml"/><Relationship Id="rId1" Type="http://schemas.openxmlformats.org/officeDocument/2006/relationships/slideLayout" Target="../slideLayouts/slideLayout107.xml"/><Relationship Id="rId6" Type="http://schemas.openxmlformats.org/officeDocument/2006/relationships/slideLayout" Target="../slideLayouts/slideLayout112.xml"/><Relationship Id="rId11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1.xml"/><Relationship Id="rId15" Type="http://schemas.openxmlformats.org/officeDocument/2006/relationships/slideLayout" Target="../slideLayouts/slideLayout121.xml"/><Relationship Id="rId10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0.xml"/><Relationship Id="rId9" Type="http://schemas.openxmlformats.org/officeDocument/2006/relationships/slideLayout" Target="../slideLayouts/slideLayout115.xml"/><Relationship Id="rId14" Type="http://schemas.openxmlformats.org/officeDocument/2006/relationships/slideLayout" Target="../slideLayouts/slideLayout1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479813" y="4561859"/>
            <a:ext cx="442169" cy="44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737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7" r:id="rId2"/>
    <p:sldLayoutId id="2147483701" r:id="rId3"/>
    <p:sldLayoutId id="2147483685" r:id="rId4"/>
    <p:sldLayoutId id="2147483705" r:id="rId5"/>
    <p:sldLayoutId id="2147483686" r:id="rId6"/>
    <p:sldLayoutId id="2147483687" r:id="rId7"/>
    <p:sldLayoutId id="2147483688" r:id="rId8"/>
    <p:sldLayoutId id="2147483689" r:id="rId9"/>
    <p:sldLayoutId id="2147483708" r:id="rId10"/>
    <p:sldLayoutId id="2147483690" r:id="rId11"/>
    <p:sldLayoutId id="2147483691" r:id="rId12"/>
    <p:sldLayoutId id="2147483692" r:id="rId13"/>
    <p:sldLayoutId id="2147483693" r:id="rId14"/>
    <p:sldLayoutId id="214748369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7DD59A-4148-4107-89BD-9ACB60B45F7F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19" y="195486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333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  <p:sldLayoutId id="2147483757" r:id="rId12"/>
    <p:sldLayoutId id="2147483758" r:id="rId13"/>
    <p:sldLayoutId id="2147483759" r:id="rId14"/>
    <p:sldLayoutId id="2147483760" r:id="rId15"/>
    <p:sldLayoutId id="2147483761" r:id="rId16"/>
    <p:sldLayoutId id="2147483762" r:id="rId17"/>
    <p:sldLayoutId id="2147483763" r:id="rId18"/>
    <p:sldLayoutId id="2147483764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5B5D801-8BF9-4650-9BFF-FFF9F24B181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85494" y="4561228"/>
            <a:ext cx="936488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8291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  <p:sldLayoutId id="2147483778" r:id="rId13"/>
    <p:sldLayoutId id="2147483779" r:id="rId14"/>
    <p:sldLayoutId id="2147483780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88F4E070-DE66-4ABC-A8F6-3559DD6EA3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51519" y="195486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4957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2" r:id="rId1"/>
    <p:sldLayoutId id="2147483783" r:id="rId2"/>
    <p:sldLayoutId id="2147483784" r:id="rId3"/>
    <p:sldLayoutId id="2147483785" r:id="rId4"/>
    <p:sldLayoutId id="2147483786" r:id="rId5"/>
    <p:sldLayoutId id="2147483787" r:id="rId6"/>
    <p:sldLayoutId id="2147483788" r:id="rId7"/>
    <p:sldLayoutId id="2147483789" r:id="rId8"/>
    <p:sldLayoutId id="2147483790" r:id="rId9"/>
    <p:sldLayoutId id="2147483791" r:id="rId10"/>
    <p:sldLayoutId id="2147483792" r:id="rId11"/>
    <p:sldLayoutId id="2147483793" r:id="rId12"/>
    <p:sldLayoutId id="2147483794" r:id="rId13"/>
    <p:sldLayoutId id="2147483795" r:id="rId14"/>
    <p:sldLayoutId id="2147483796" r:id="rId15"/>
    <p:sldLayoutId id="2147483797" r:id="rId16"/>
    <p:sldLayoutId id="2147483798" r:id="rId17"/>
    <p:sldLayoutId id="2147483799" r:id="rId18"/>
    <p:sldLayoutId id="2147483800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48BB93D-47BD-4299-AC60-ADD2BF55C8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7153901" y="4561228"/>
            <a:ext cx="1768081" cy="44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28464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2" r:id="rId1"/>
    <p:sldLayoutId id="2147483803" r:id="rId2"/>
    <p:sldLayoutId id="2147483804" r:id="rId3"/>
    <p:sldLayoutId id="2147483805" r:id="rId4"/>
    <p:sldLayoutId id="2147483806" r:id="rId5"/>
    <p:sldLayoutId id="2147483807" r:id="rId6"/>
    <p:sldLayoutId id="2147483808" r:id="rId7"/>
    <p:sldLayoutId id="2147483809" r:id="rId8"/>
    <p:sldLayoutId id="2147483810" r:id="rId9"/>
    <p:sldLayoutId id="2147483811" r:id="rId10"/>
    <p:sldLayoutId id="2147483812" r:id="rId11"/>
    <p:sldLayoutId id="2147483813" r:id="rId12"/>
    <p:sldLayoutId id="2147483814" r:id="rId13"/>
    <p:sldLayoutId id="2147483815" r:id="rId14"/>
    <p:sldLayoutId id="2147483816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805458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1550788"/>
            <a:ext cx="8640958" cy="31812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99F6DE-9351-1240-AACA-180705475965}"/>
              </a:ext>
            </a:extLst>
          </p:cNvPr>
          <p:cNvPicPr>
            <a:picLocks noChangeAspect="1"/>
          </p:cNvPicPr>
          <p:nvPr userDrawn="1"/>
        </p:nvPicPr>
        <p:blipFill>
          <a:blip r:embed="rId2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290" y="245070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42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824" r:id="rId4"/>
    <p:sldLayoutId id="2147483826" r:id="rId5"/>
    <p:sldLayoutId id="2147483825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19" r:id="rId13"/>
    <p:sldLayoutId id="2147483827" r:id="rId14"/>
    <p:sldLayoutId id="2147483720" r:id="rId15"/>
    <p:sldLayoutId id="2147483721" r:id="rId16"/>
    <p:sldLayoutId id="2147483722" r:id="rId17"/>
    <p:sldLayoutId id="2147483723" r:id="rId18"/>
    <p:sldLayoutId id="2147483724" r:id="rId19"/>
    <p:sldLayoutId id="2147483725" r:id="rId20"/>
    <p:sldLayoutId id="2147483726" r:id="rId21"/>
    <p:sldLayoutId id="2147483727" r:id="rId22"/>
    <p:sldLayoutId id="2147483728" r:id="rId23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520" y="242243"/>
            <a:ext cx="8640960" cy="63936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AU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522" y="987573"/>
            <a:ext cx="8640958" cy="357428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AU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01370" y="4878250"/>
            <a:ext cx="6083845" cy="93206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900">
                <a:solidFill>
                  <a:schemeClr val="accent3"/>
                </a:solidFill>
              </a:defRPr>
            </a:lvl1pPr>
          </a:lstStyle>
          <a:p>
            <a:r>
              <a:rPr lang="en-AU"/>
              <a:t>Presentation title  |  Presenter name</a:t>
            </a:r>
            <a:endParaRPr lang="en-AU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253577" y="4878250"/>
            <a:ext cx="288789" cy="9551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900">
                <a:solidFill>
                  <a:schemeClr val="accent3"/>
                </a:solidFill>
              </a:defRPr>
            </a:lvl1pPr>
          </a:lstStyle>
          <a:p>
            <a:fld id="{2ABE124A-B5C5-46E0-B944-45307B126769}" type="slidenum">
              <a:rPr lang="en-AU" smtClean="0"/>
              <a:pPr/>
              <a:t>‹#›</a:t>
            </a:fld>
            <a:r>
              <a:rPr lang="en-AU"/>
              <a:t>  |</a:t>
            </a:r>
            <a:endParaRPr lang="en-AU" dirty="0"/>
          </a:p>
        </p:txBody>
      </p:sp>
      <p:sp>
        <p:nvSpPr>
          <p:cNvPr id="36" name="AutoShape 4"/>
          <p:cNvSpPr>
            <a:spLocks noChangeAspect="1" noChangeArrowheads="1" noTextEdit="1"/>
          </p:cNvSpPr>
          <p:nvPr userDrawn="1"/>
        </p:nvSpPr>
        <p:spPr bwMode="auto">
          <a:xfrm>
            <a:off x="3178" y="2494956"/>
            <a:ext cx="9161463" cy="60126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38" name="Rectangle 7"/>
          <p:cNvSpPr>
            <a:spLocks noChangeArrowheads="1"/>
          </p:cNvSpPr>
          <p:nvPr userDrawn="1"/>
        </p:nvSpPr>
        <p:spPr bwMode="auto">
          <a:xfrm>
            <a:off x="12701" y="2728318"/>
            <a:ext cx="9142412" cy="36790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>
              <a:defRPr/>
            </a:pPr>
            <a:endParaRPr lang="en-AU"/>
          </a:p>
        </p:txBody>
      </p:sp>
      <p:sp>
        <p:nvSpPr>
          <p:cNvPr id="44" name="Rectangle 84"/>
          <p:cNvSpPr>
            <a:spLocks noChangeArrowheads="1"/>
          </p:cNvSpPr>
          <p:nvPr/>
        </p:nvSpPr>
        <p:spPr bwMode="auto">
          <a:xfrm>
            <a:off x="1591" y="2719984"/>
            <a:ext cx="9167813" cy="4083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>
              <a:defRPr/>
            </a:pPr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46349F-4F50-4446-8BA9-4263776EBB91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2858" y="4709569"/>
            <a:ext cx="1010317" cy="232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220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90000"/>
        </a:lnSpc>
        <a:spcBef>
          <a:spcPts val="6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396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648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864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080000" indent="-216000" algn="l" defTabSz="914400" rtl="0" eaLnBrk="1" latinLnBrk="0" hangingPunct="1">
        <a:lnSpc>
          <a:spcPct val="90000"/>
        </a:lnSpc>
        <a:spcBef>
          <a:spcPts val="600"/>
        </a:spcBef>
        <a:buFont typeface="Calibri" pitchFamily="34" charset="0"/>
        <a:buChar char="•"/>
        <a:tabLst/>
        <a:defRPr sz="18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602">
          <p15:clr>
            <a:srgbClr val="F26B43"/>
          </p15:clr>
        </p15:guide>
        <p15:guide id="2" orient="horz" pos="316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0.xml"/><Relationship Id="rId5" Type="http://schemas.openxmlformats.org/officeDocument/2006/relationships/image" Target="../media/image14.emf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emf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3305-70CF-0966-B528-2BA518DD3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0B14004B-9594-8606-8A10-F211A620643E}"/>
              </a:ext>
            </a:extLst>
          </p:cNvPr>
          <p:cNvSpPr/>
          <p:nvPr/>
        </p:nvSpPr>
        <p:spPr>
          <a:xfrm>
            <a:off x="5076056" y="710098"/>
            <a:ext cx="3600400" cy="366185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CFDB7C-CC2B-A726-39B5-5989505D5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dirty="0"/>
              <a:t>Beyond this meeting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234B26-9001-6CB6-CFC8-F332F357C9D5}"/>
              </a:ext>
            </a:extLst>
          </p:cNvPr>
          <p:cNvSpPr txBox="1"/>
          <p:nvPr/>
        </p:nvSpPr>
        <p:spPr>
          <a:xfrm>
            <a:off x="397082" y="870777"/>
            <a:ext cx="453341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key aspect of </a:t>
            </a:r>
            <a:r>
              <a:rPr lang="en-US" dirty="0" err="1"/>
              <a:t>CoFI</a:t>
            </a:r>
            <a:r>
              <a:rPr lang="en-US" dirty="0"/>
              <a:t> is the flexibility provided for exploration and experimentation in inversion</a:t>
            </a:r>
          </a:p>
          <a:p>
            <a:endParaRPr lang="en-US" dirty="0"/>
          </a:p>
          <a:p>
            <a:r>
              <a:rPr lang="en-US" dirty="0"/>
              <a:t>Created examples and brought existing capabilities together</a:t>
            </a:r>
          </a:p>
          <a:p>
            <a:endParaRPr lang="en-US" dirty="0"/>
          </a:p>
          <a:p>
            <a:r>
              <a:rPr lang="en-US" dirty="0"/>
              <a:t>Making unique approaches accessible through the common interface and grow the set of examples</a:t>
            </a:r>
          </a:p>
          <a:p>
            <a:endParaRPr lang="en-US" dirty="0"/>
          </a:p>
          <a:p>
            <a:r>
              <a:rPr lang="en-US" dirty="0"/>
              <a:t>A FAIR example driven framework…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5C5B64CE-1260-5F3A-EC59-FE849D99D8D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1</a:t>
            </a:fld>
            <a:r>
              <a:rPr lang="en-AU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947CA4-5173-0C04-DBDA-F37CF72189F2}"/>
              </a:ext>
            </a:extLst>
          </p:cNvPr>
          <p:cNvSpPr txBox="1"/>
          <p:nvPr/>
        </p:nvSpPr>
        <p:spPr>
          <a:xfrm>
            <a:off x="5364124" y="887799"/>
            <a:ext cx="3024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 conversation about  </a:t>
            </a:r>
            <a:r>
              <a:rPr lang="en-US" sz="1200" dirty="0" err="1"/>
              <a:t>CoFI</a:t>
            </a:r>
            <a:r>
              <a:rPr lang="en-US" sz="1200" dirty="0"/>
              <a:t> over coffee is just the beginning…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D920A8-091D-AC17-D1F0-E2AF97FA04D7}"/>
              </a:ext>
            </a:extLst>
          </p:cNvPr>
          <p:cNvSpPr txBox="1"/>
          <p:nvPr/>
        </p:nvSpPr>
        <p:spPr>
          <a:xfrm>
            <a:off x="5288990" y="3503323"/>
            <a:ext cx="3387466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/>
              <a:t>Explore our examples</a:t>
            </a:r>
          </a:p>
          <a:p>
            <a:endParaRPr lang="en-US" sz="400" b="1" dirty="0"/>
          </a:p>
          <a:p>
            <a:r>
              <a:rPr lang="en-US" sz="1100" b="1" dirty="0"/>
              <a:t>Setup your own inverse problem</a:t>
            </a:r>
          </a:p>
          <a:p>
            <a:endParaRPr lang="en-US" sz="400" b="1" dirty="0"/>
          </a:p>
          <a:p>
            <a:r>
              <a:rPr lang="en-US" sz="1100" b="1" dirty="0"/>
              <a:t>Let us know what you think</a:t>
            </a:r>
          </a:p>
          <a:p>
            <a:endParaRPr lang="en-US" sz="1000" dirty="0"/>
          </a:p>
        </p:txBody>
      </p:sp>
      <p:pic>
        <p:nvPicPr>
          <p:cNvPr id="11" name="Picture 10" descr="A cup of coffee on a saucer&#10;&#10;Description automatically generated">
            <a:extLst>
              <a:ext uri="{FF2B5EF4-FFF2-40B4-BE49-F238E27FC236}">
                <a16:creationId xmlns:a16="http://schemas.microsoft.com/office/drawing/2014/main" id="{0769BC5B-C678-E7D5-0A5C-24951A0F6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4124" y="1387875"/>
            <a:ext cx="3096308" cy="2059045"/>
          </a:xfrm>
          <a:prstGeom prst="rect">
            <a:avLst/>
          </a:prstGeom>
        </p:spPr>
      </p:pic>
      <p:pic>
        <p:nvPicPr>
          <p:cNvPr id="7" name="Picture 6" descr="A qr code on a white background&#10;&#10;Description automatically generated">
            <a:extLst>
              <a:ext uri="{FF2B5EF4-FFF2-40B4-BE49-F238E27FC236}">
                <a16:creationId xmlns:a16="http://schemas.microsoft.com/office/drawing/2014/main" id="{1D4CABCF-558A-E79E-26FE-96C1C6971C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86632" y="3585306"/>
            <a:ext cx="701791" cy="70179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B328CA-641C-2CD6-FA7C-8308B84EF179}"/>
              </a:ext>
            </a:extLst>
          </p:cNvPr>
          <p:cNvSpPr txBox="1"/>
          <p:nvPr/>
        </p:nvSpPr>
        <p:spPr>
          <a:xfrm>
            <a:off x="7153514" y="1431447"/>
            <a:ext cx="13289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solidFill>
                  <a:schemeClr val="bg1"/>
                </a:solidFill>
              </a:rPr>
              <a:t>www.inlab.au</a:t>
            </a:r>
            <a:endParaRPr lang="en-US" sz="1600" dirty="0">
              <a:solidFill>
                <a:schemeClr val="bg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94141A0-EB14-C2D2-1007-57D6391886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869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72A9-408A-3A06-57AF-12B09DB27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6F1AE4-36BD-D9BE-0651-7D532459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dirty="0"/>
              <a:t>Upcoming capabilities…</a:t>
            </a:r>
          </a:p>
        </p:txBody>
      </p:sp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FEC1E6F7-EE98-9864-9B92-DA4C7221625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2</a:t>
            </a:fld>
            <a:r>
              <a:rPr lang="en-AU" dirty="0"/>
              <a:t>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D519A5-5186-0432-5EB2-EF4AFE5B4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923E572-CD79-8799-0539-A66811124E55}"/>
              </a:ext>
            </a:extLst>
          </p:cNvPr>
          <p:cNvSpPr txBox="1"/>
          <p:nvPr/>
        </p:nvSpPr>
        <p:spPr>
          <a:xfrm>
            <a:off x="789644" y="1076543"/>
            <a:ext cx="33394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Trans-conceptual sampling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6EB96D-18AA-8575-09C1-1C01CFEAE449}"/>
              </a:ext>
            </a:extLst>
          </p:cNvPr>
          <p:cNvSpPr txBox="1"/>
          <p:nvPr/>
        </p:nvSpPr>
        <p:spPr>
          <a:xfrm>
            <a:off x="4572000" y="705506"/>
            <a:ext cx="46483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Options for trans-dimensional sampling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757813-E08D-0282-B7F3-24FE587DE676}"/>
              </a:ext>
            </a:extLst>
          </p:cNvPr>
          <p:cNvSpPr txBox="1"/>
          <p:nvPr/>
        </p:nvSpPr>
        <p:spPr>
          <a:xfrm>
            <a:off x="4673117" y="3347081"/>
            <a:ext cx="37153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Unified Interface for ensemble methods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DF51E-0C83-6218-9642-C702547D8CDA}"/>
              </a:ext>
            </a:extLst>
          </p:cNvPr>
          <p:cNvSpPr txBox="1"/>
          <p:nvPr/>
        </p:nvSpPr>
        <p:spPr>
          <a:xfrm>
            <a:off x="6530771" y="2984549"/>
            <a:ext cx="21137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github.com</a:t>
            </a:r>
            <a:r>
              <a:rPr lang="en-US" sz="900" dirty="0"/>
              <a:t>/</a:t>
            </a:r>
            <a:r>
              <a:rPr lang="en-US" sz="900" dirty="0" err="1"/>
              <a:t>inlab</a:t>
            </a:r>
            <a:r>
              <a:rPr lang="en-US" sz="900" dirty="0"/>
              <a:t>-geo/</a:t>
            </a:r>
            <a:r>
              <a:rPr lang="en-US" sz="900" dirty="0" err="1"/>
              <a:t>pyrjmcmc</a:t>
            </a:r>
            <a:endParaRPr lang="en-US" sz="9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4A22DC-2CDC-8A07-AC8C-65A1BBB9959C}"/>
              </a:ext>
            </a:extLst>
          </p:cNvPr>
          <p:cNvSpPr txBox="1"/>
          <p:nvPr/>
        </p:nvSpPr>
        <p:spPr>
          <a:xfrm>
            <a:off x="4403586" y="2991515"/>
            <a:ext cx="217004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github.com</a:t>
            </a:r>
            <a:r>
              <a:rPr lang="en-US" sz="900" dirty="0"/>
              <a:t>/</a:t>
            </a:r>
            <a:r>
              <a:rPr lang="en-US" sz="900" dirty="0" err="1"/>
              <a:t>fmagrini</a:t>
            </a:r>
            <a:r>
              <a:rPr lang="en-US" sz="900" dirty="0"/>
              <a:t>/bayes-bay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F4D5EB-82F3-DA43-F6DF-AB7EEE9B2953}"/>
              </a:ext>
            </a:extLst>
          </p:cNvPr>
          <p:cNvSpPr txBox="1"/>
          <p:nvPr/>
        </p:nvSpPr>
        <p:spPr>
          <a:xfrm>
            <a:off x="1091578" y="4152401"/>
            <a:ext cx="217004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/>
              <a:t>https://</a:t>
            </a:r>
            <a:r>
              <a:rPr lang="en-US" sz="900" dirty="0" err="1"/>
              <a:t>github.com</a:t>
            </a:r>
            <a:r>
              <a:rPr lang="en-US" sz="900" dirty="0"/>
              <a:t>/</a:t>
            </a:r>
            <a:r>
              <a:rPr lang="en-US" sz="900" dirty="0" err="1"/>
              <a:t>inlab</a:t>
            </a:r>
            <a:r>
              <a:rPr lang="en-US" sz="900" dirty="0"/>
              <a:t>-geo/</a:t>
            </a:r>
            <a:r>
              <a:rPr lang="en-US" sz="900" dirty="0" err="1"/>
              <a:t>pyTransC</a:t>
            </a:r>
            <a:endParaRPr lang="en-US" sz="90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48CA7BB-FF66-7E81-1636-127FDB37D2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154" y="1471369"/>
            <a:ext cx="3888432" cy="264767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83D3DA6-C955-8E8C-0E9F-572EA95D05E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4039" b="8395"/>
          <a:stretch>
            <a:fillRect/>
          </a:stretch>
        </p:blipFill>
        <p:spPr>
          <a:xfrm>
            <a:off x="5094841" y="3726379"/>
            <a:ext cx="2957581" cy="744424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8E1B912-8342-EF7D-CA83-93BDF36637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29415" y="1028175"/>
            <a:ext cx="3888432" cy="196334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D513F6B-D2C5-C381-9295-3DFA947D569A}"/>
              </a:ext>
            </a:extLst>
          </p:cNvPr>
          <p:cNvSpPr txBox="1"/>
          <p:nvPr/>
        </p:nvSpPr>
        <p:spPr>
          <a:xfrm>
            <a:off x="5243723" y="4536578"/>
            <a:ext cx="46587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https://</a:t>
            </a:r>
            <a:r>
              <a:rPr lang="en-US" sz="1000" dirty="0" err="1"/>
              <a:t>emcee.readthedocs.io</a:t>
            </a:r>
            <a:r>
              <a:rPr lang="en-US" sz="1000" dirty="0"/>
              <a:t>/</a:t>
            </a:r>
            <a:r>
              <a:rPr lang="en-US" sz="1000" dirty="0" err="1"/>
              <a:t>en</a:t>
            </a:r>
            <a:r>
              <a:rPr lang="en-US" sz="1000" dirty="0"/>
              <a:t>/stable/</a:t>
            </a:r>
          </a:p>
        </p:txBody>
      </p:sp>
    </p:spTree>
    <p:extLst>
      <p:ext uri="{BB962C8B-B14F-4D97-AF65-F5344CB8AC3E}">
        <p14:creationId xmlns:p14="http://schemas.microsoft.com/office/powerpoint/2010/main" val="1792649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C72A9-408A-3A06-57AF-12B09DB27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6F1AE4-36BD-D9BE-0651-7D5324594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dirty="0"/>
              <a:t>Wrap up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C34EAE-85BB-03D5-17CA-C8366B91BA15}"/>
              </a:ext>
            </a:extLst>
          </p:cNvPr>
          <p:cNvSpPr txBox="1"/>
          <p:nvPr/>
        </p:nvSpPr>
        <p:spPr>
          <a:xfrm>
            <a:off x="383715" y="1173182"/>
            <a:ext cx="864096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Feedback:</a:t>
            </a:r>
          </a:p>
          <a:p>
            <a:pPr lvl="1"/>
            <a:r>
              <a:rPr lang="en-US" dirty="0"/>
              <a:t>Choosing priorities: Expanding the methods; the examples, building a community;</a:t>
            </a:r>
          </a:p>
          <a:p>
            <a:pPr lvl="1"/>
            <a:br>
              <a:rPr lang="en-US" dirty="0"/>
            </a:br>
            <a:r>
              <a:rPr lang="en-US" dirty="0"/>
              <a:t>Wishlist includes: scalability (HPC); new examples; automatic differentiation, Surrogate modelling. Link to new optimization and sampling packages…</a:t>
            </a:r>
          </a:p>
          <a:p>
            <a:endParaRPr lang="en-US" dirty="0"/>
          </a:p>
          <a:p>
            <a:r>
              <a:rPr lang="en-US" dirty="0"/>
              <a:t>Work with us &amp; get involved:</a:t>
            </a:r>
          </a:p>
          <a:p>
            <a:pPr lvl="1"/>
            <a:r>
              <a:rPr lang="en-AU" dirty="0"/>
              <a:t>c</a:t>
            </a:r>
            <a:r>
              <a:rPr lang="en-AU" dirty="0">
                <a:effectLst/>
              </a:rPr>
              <a:t>reating an application example using </a:t>
            </a:r>
            <a:r>
              <a:rPr lang="en-AU" dirty="0" err="1">
                <a:effectLst/>
              </a:rPr>
              <a:t>CoFI</a:t>
            </a:r>
            <a:r>
              <a:rPr lang="en-AU" dirty="0">
                <a:effectLst/>
              </a:rPr>
              <a:t> </a:t>
            </a:r>
          </a:p>
          <a:p>
            <a:endParaRPr lang="en-US" dirty="0"/>
          </a:p>
          <a:p>
            <a:r>
              <a:rPr lang="en-US" dirty="0"/>
              <a:t>join our slack community: 		raise an issue on </a:t>
            </a:r>
            <a:r>
              <a:rPr lang="en-US" dirty="0" err="1"/>
              <a:t>github</a:t>
            </a:r>
            <a:r>
              <a:rPr lang="en-US" dirty="0"/>
              <a:t>:</a:t>
            </a:r>
          </a:p>
          <a:p>
            <a:r>
              <a:rPr lang="en-US" dirty="0">
                <a:effectLst/>
              </a:rPr>
              <a:t>    </a:t>
            </a:r>
            <a:r>
              <a:rPr lang="en-AU" dirty="0">
                <a:effectLst/>
              </a:rPr>
              <a:t>http://</a:t>
            </a:r>
            <a:r>
              <a:rPr lang="en-AU" dirty="0" err="1">
                <a:effectLst/>
              </a:rPr>
              <a:t>inlab.au</a:t>
            </a:r>
            <a:r>
              <a:rPr lang="en-AU" dirty="0">
                <a:effectLst/>
              </a:rPr>
              <a:t>/community </a:t>
            </a:r>
            <a:r>
              <a:rPr lang="en-AU" dirty="0"/>
              <a:t>	    https://</a:t>
            </a:r>
            <a:r>
              <a:rPr lang="en-AU" dirty="0" err="1"/>
              <a:t>github.com</a:t>
            </a:r>
            <a:r>
              <a:rPr lang="en-AU" dirty="0"/>
              <a:t>/</a:t>
            </a:r>
            <a:r>
              <a:rPr lang="en-AU" dirty="0" err="1"/>
              <a:t>inlab</a:t>
            </a:r>
            <a:r>
              <a:rPr lang="en-AU" dirty="0"/>
              <a:t>-geo/</a:t>
            </a:r>
            <a:r>
              <a:rPr lang="en-AU" dirty="0" err="1"/>
              <a:t>cofi</a:t>
            </a:r>
            <a:r>
              <a:rPr lang="en-AU" dirty="0"/>
              <a:t>/issues</a:t>
            </a:r>
            <a:endParaRPr lang="en-AU" dirty="0">
              <a:effectLst/>
            </a:endParaRPr>
          </a:p>
          <a:p>
            <a:endParaRPr lang="en-US" dirty="0"/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D519A5-5186-0432-5EB2-EF4AFE5B4F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  <p:sp>
        <p:nvSpPr>
          <p:cNvPr id="3" name="Slide Number Placeholder 6">
            <a:extLst>
              <a:ext uri="{FF2B5EF4-FFF2-40B4-BE49-F238E27FC236}">
                <a16:creationId xmlns:a16="http://schemas.microsoft.com/office/drawing/2014/main" id="{FD9A1DDA-41B3-525C-0539-89B1BF5950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3</a:t>
            </a:fld>
            <a:r>
              <a:rPr lang="en-AU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B02A91-3B90-0307-B8B8-17EB2BB6EC11}"/>
              </a:ext>
            </a:extLst>
          </p:cNvPr>
          <p:cNvSpPr txBox="1"/>
          <p:nvPr/>
        </p:nvSpPr>
        <p:spPr>
          <a:xfrm>
            <a:off x="1979712" y="651193"/>
            <a:ext cx="662134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C00000"/>
                </a:solidFill>
              </a:rPr>
              <a:t>This is an </a:t>
            </a:r>
            <a:r>
              <a:rPr lang="en-US" sz="3200" b="1" dirty="0">
                <a:solidFill>
                  <a:srgbClr val="C00000"/>
                </a:solidFill>
              </a:rPr>
              <a:t>open source </a:t>
            </a:r>
            <a:r>
              <a:rPr lang="en-US" sz="3200" dirty="0">
                <a:solidFill>
                  <a:srgbClr val="C00000"/>
                </a:solidFill>
              </a:rPr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1110601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CE2E-5045-F0D8-D80B-B5316884E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3BD88B-CD9D-EF0A-D796-C56880B782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AU" sz="2800" dirty="0"/>
              <a:t>But what about my favourite metaheuristic optimiser?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A475D9D-C8C6-0751-4402-ADA63F2ADC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66" y="957138"/>
            <a:ext cx="4060701" cy="341680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16B08FA-6350-4847-B2E3-7E74A6B8866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830"/>
          <a:stretch/>
        </p:blipFill>
        <p:spPr>
          <a:xfrm>
            <a:off x="684145" y="3718563"/>
            <a:ext cx="3743839" cy="547371"/>
          </a:xfrm>
          <a:prstGeom prst="rect">
            <a:avLst/>
          </a:prstGeom>
        </p:spPr>
      </p:pic>
      <p:pic>
        <p:nvPicPr>
          <p:cNvPr id="18" name="Picture 17" descr="A green and yellow chart with black dots and numbers&#10;&#10;Description automatically generated">
            <a:extLst>
              <a:ext uri="{FF2B5EF4-FFF2-40B4-BE49-F238E27FC236}">
                <a16:creationId xmlns:a16="http://schemas.microsoft.com/office/drawing/2014/main" id="{022D8AC0-7483-F3A0-4B1D-94A07BE5F2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89116" y="865670"/>
            <a:ext cx="2574032" cy="2574032"/>
          </a:xfrm>
          <a:prstGeom prst="rect">
            <a:avLst/>
          </a:prstGeom>
        </p:spPr>
      </p:pic>
      <p:pic>
        <p:nvPicPr>
          <p:cNvPr id="22" name="Picture 21" descr="A green and yellow chart with black dots&#10;&#10;Description automatically generated">
            <a:extLst>
              <a:ext uri="{FF2B5EF4-FFF2-40B4-BE49-F238E27FC236}">
                <a16:creationId xmlns:a16="http://schemas.microsoft.com/office/drawing/2014/main" id="{880C4C3E-671D-C20B-CFF6-ED9E6657BB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0436" y="1799914"/>
            <a:ext cx="2466020" cy="2466020"/>
          </a:xfrm>
          <a:prstGeom prst="rect">
            <a:avLst/>
          </a:prstGeom>
        </p:spPr>
      </p:pic>
      <p:sp>
        <p:nvSpPr>
          <p:cNvPr id="2" name="Slide Number Placeholder 6">
            <a:extLst>
              <a:ext uri="{FF2B5EF4-FFF2-40B4-BE49-F238E27FC236}">
                <a16:creationId xmlns:a16="http://schemas.microsoft.com/office/drawing/2014/main" id="{6D49928A-89C9-73B1-0125-15AED2AA4AC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253577" y="4878250"/>
            <a:ext cx="288789" cy="95510"/>
          </a:xfrm>
        </p:spPr>
        <p:txBody>
          <a:bodyPr/>
          <a:lstStyle/>
          <a:p>
            <a:pPr algn="ctr"/>
            <a:fld id="{2ABE124A-B5C5-46E0-B944-45307B126769}" type="slidenum">
              <a:rPr lang="en-AU" smtClean="0"/>
              <a:pPr algn="ctr"/>
              <a:t>4</a:t>
            </a:fld>
            <a:r>
              <a:rPr lang="en-AU" dirty="0"/>
              <a:t> </a:t>
            </a:r>
          </a:p>
        </p:txBody>
      </p:sp>
      <p:pic>
        <p:nvPicPr>
          <p:cNvPr id="6" name="Picture 5" descr="A qr code with a few squares&#10;&#10;Description automatically generated">
            <a:extLst>
              <a:ext uri="{FF2B5EF4-FFF2-40B4-BE49-F238E27FC236}">
                <a16:creationId xmlns:a16="http://schemas.microsoft.com/office/drawing/2014/main" id="{B2C9062F-75DE-5A11-AEFA-288BB4D831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5234" y="17345"/>
            <a:ext cx="771550" cy="7715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72F21E-53D9-1CB0-7C76-C99A0FFBF935}"/>
              </a:ext>
            </a:extLst>
          </p:cNvPr>
          <p:cNvSpPr txBox="1"/>
          <p:nvPr/>
        </p:nvSpPr>
        <p:spPr>
          <a:xfrm>
            <a:off x="4752522" y="3591882"/>
            <a:ext cx="1474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www.inlab.au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AF5F36-AEC2-8EEB-4E29-7B2FD35D2563}"/>
              </a:ext>
            </a:extLst>
          </p:cNvPr>
          <p:cNvSpPr txBox="1"/>
          <p:nvPr/>
        </p:nvSpPr>
        <p:spPr>
          <a:xfrm>
            <a:off x="5585238" y="773341"/>
            <a:ext cx="23845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Border Collie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2B561E3-1966-4097-0C9D-E9427C57F65B}"/>
              </a:ext>
            </a:extLst>
          </p:cNvPr>
          <p:cNvCxnSpPr>
            <a:cxnSpLocks/>
          </p:cNvCxnSpPr>
          <p:nvPr/>
        </p:nvCxnSpPr>
        <p:spPr>
          <a:xfrm flipH="1">
            <a:off x="8028384" y="1923678"/>
            <a:ext cx="326850" cy="74720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D527BE3-2CA9-0E6B-139D-2CC94D7CA454}"/>
              </a:ext>
            </a:extLst>
          </p:cNvPr>
          <p:cNvSpPr txBox="1"/>
          <p:nvPr/>
        </p:nvSpPr>
        <p:spPr>
          <a:xfrm>
            <a:off x="7666975" y="1630013"/>
            <a:ext cx="1225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Global minimum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21F3D55-517E-8FF3-127C-AA2275ED55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67137" y="4545819"/>
            <a:ext cx="1440160" cy="585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934318"/>
      </p:ext>
    </p:extLst>
  </p:cSld>
  <p:clrMapOvr>
    <a:masterClrMapping/>
  </p:clrMapOvr>
</p:sld>
</file>

<file path=ppt/theme/theme1.xml><?xml version="1.0" encoding="utf-8"?>
<a:theme xmlns:a="http://schemas.openxmlformats.org/drawingml/2006/main" name="CSIRO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4E4DF566-B70F-4928-80E7-694B9E9A2FBD}"/>
    </a:ext>
  </a:extLst>
</a:theme>
</file>

<file path=ppt/theme/theme2.xml><?xml version="1.0" encoding="utf-8"?>
<a:theme xmlns:a="http://schemas.openxmlformats.org/drawingml/2006/main" name="Data61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398C969-54DD-46EF-89D3-EBAEE5270F10}"/>
    </a:ext>
  </a:extLst>
</a:theme>
</file>

<file path=ppt/theme/theme3.xml><?xml version="1.0" encoding="utf-8"?>
<a:theme xmlns:a="http://schemas.openxmlformats.org/drawingml/2006/main" name="Data61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83853432-11B4-49DC-8E1B-8FA6CFB2F4E0}"/>
    </a:ext>
  </a:extLst>
</a:theme>
</file>

<file path=ppt/theme/theme4.xml><?xml version="1.0" encoding="utf-8"?>
<a:theme xmlns:a="http://schemas.openxmlformats.org/drawingml/2006/main" name="MNF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02E87599-44C4-42C3-BED7-5FF59534C5EF}"/>
    </a:ext>
  </a:extLst>
</a:theme>
</file>

<file path=ppt/theme/theme5.xml><?xml version="1.0" encoding="utf-8"?>
<a:theme xmlns:a="http://schemas.openxmlformats.org/drawingml/2006/main" name="MNF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1D630F70-31C1-47EA-9A5C-0993FCC783EC}"/>
    </a:ext>
  </a:extLst>
</a:theme>
</file>

<file path=ppt/theme/theme6.xml><?xml version="1.0" encoding="utf-8"?>
<a:theme xmlns:a="http://schemas.openxmlformats.org/drawingml/2006/main" name="Wordmark vertic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5D5CE2B9-9AB1-444B-84B0-F100492FB77D}"/>
    </a:ext>
  </a:extLst>
</a:theme>
</file>

<file path=ppt/theme/theme7.xml><?xml version="1.0" encoding="utf-8"?>
<a:theme xmlns:a="http://schemas.openxmlformats.org/drawingml/2006/main" name="Wordmark horizontal">
  <a:themeElements>
    <a:clrScheme name="CSIRO">
      <a:dk1>
        <a:sysClr val="windowText" lastClr="000000"/>
      </a:dk1>
      <a:lt1>
        <a:srgbClr val="FFFFFF"/>
      </a:lt1>
      <a:dk2>
        <a:srgbClr val="000000"/>
      </a:dk2>
      <a:lt2>
        <a:srgbClr val="FFFFFF"/>
      </a:lt2>
      <a:accent1>
        <a:srgbClr val="00A9CE"/>
      </a:accent1>
      <a:accent2>
        <a:srgbClr val="001D34"/>
      </a:accent2>
      <a:accent3>
        <a:srgbClr val="757579"/>
      </a:accent3>
      <a:accent4>
        <a:srgbClr val="1E22AA"/>
      </a:accent4>
      <a:accent5>
        <a:srgbClr val="007377"/>
      </a:accent5>
      <a:accent6>
        <a:srgbClr val="6D2077"/>
      </a:accent6>
      <a:hlink>
        <a:srgbClr val="004B87"/>
      </a:hlink>
      <a:folHlink>
        <a:srgbClr val="007A53"/>
      </a:folHlink>
    </a:clrScheme>
    <a:fontScheme name="CSIRO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werPoint 16.9 Widescreen.potx" id="{4F9F179C-FC55-4406-9372-ACB71F56CD80}" vid="{28CA8483-C027-4DC1-BB4B-A94F6F059FFD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CSIRO vertical</Template>
  <TotalTime>877</TotalTime>
  <Words>342</Words>
  <Application>Microsoft Macintosh PowerPoint</Application>
  <PresentationFormat>On-screen Show (16:9)</PresentationFormat>
  <Paragraphs>50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7</vt:i4>
      </vt:variant>
      <vt:variant>
        <vt:lpstr>Slide Titles</vt:lpstr>
      </vt:variant>
      <vt:variant>
        <vt:i4>4</vt:i4>
      </vt:variant>
    </vt:vector>
  </HeadingPairs>
  <TitlesOfParts>
    <vt:vector size="13" baseType="lpstr">
      <vt:lpstr>Arial</vt:lpstr>
      <vt:lpstr>Calibri</vt:lpstr>
      <vt:lpstr>CSIRO horizontal</vt:lpstr>
      <vt:lpstr>Data61 vertical</vt:lpstr>
      <vt:lpstr>Data61 horizontal</vt:lpstr>
      <vt:lpstr>MNF vertical</vt:lpstr>
      <vt:lpstr>MNF horizontal</vt:lpstr>
      <vt:lpstr>Wordmark vertical</vt:lpstr>
      <vt:lpstr>Wordmark horizontal</vt:lpstr>
      <vt:lpstr>Beyond this meeting</vt:lpstr>
      <vt:lpstr>Upcoming capabilities…</vt:lpstr>
      <vt:lpstr>Wrap up</vt:lpstr>
      <vt:lpstr>But what about my favourite metaheuristic optimiser?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Hauser, Juerg (Mineral Resources, Black Mountain)</dc:creator>
  <cp:lastModifiedBy>Hauser, Juerg (Mineral Resources, Black Mountain)</cp:lastModifiedBy>
  <cp:revision>114</cp:revision>
  <cp:lastPrinted>2024-02-06T05:29:14Z</cp:lastPrinted>
  <dcterms:created xsi:type="dcterms:W3CDTF">2024-01-02T22:42:33Z</dcterms:created>
  <dcterms:modified xsi:type="dcterms:W3CDTF">2025-06-17T00:14:10Z</dcterms:modified>
</cp:coreProperties>
</file>