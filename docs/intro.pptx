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6.xml" ContentType="application/vnd.openxmlformats-officedocument.theme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745" r:id="rId2"/>
    <p:sldMasterId id="2147483765" r:id="rId3"/>
    <p:sldMasterId id="2147483781" r:id="rId4"/>
    <p:sldMasterId id="2147483801" r:id="rId5"/>
    <p:sldMasterId id="2147483709" r:id="rId6"/>
    <p:sldMasterId id="2147483729" r:id="rId7"/>
  </p:sldMasterIdLst>
  <p:notesMasterIdLst>
    <p:notesMasterId r:id="rId18"/>
  </p:notesMasterIdLst>
  <p:handoutMasterIdLst>
    <p:handoutMasterId r:id="rId19"/>
  </p:handoutMasterIdLst>
  <p:sldIdLst>
    <p:sldId id="18696" r:id="rId8"/>
    <p:sldId id="18700" r:id="rId9"/>
    <p:sldId id="18701" r:id="rId10"/>
    <p:sldId id="18697" r:id="rId11"/>
    <p:sldId id="18676" r:id="rId12"/>
    <p:sldId id="18690" r:id="rId13"/>
    <p:sldId id="18677" r:id="rId14"/>
    <p:sldId id="18678" r:id="rId15"/>
    <p:sldId id="18694" r:id="rId16"/>
    <p:sldId id="18699" r:id="rId17"/>
  </p:sldIdLst>
  <p:sldSz cx="9144000" cy="5143500" type="screen16x9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599">
          <p15:clr>
            <a:srgbClr val="A4A3A4"/>
          </p15:clr>
        </p15:guide>
        <p15:guide id="3" pos="2880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pos="1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A9CE"/>
    <a:srgbClr val="001D34"/>
    <a:srgbClr val="3D5D6B"/>
    <a:srgbClr val="007A53"/>
    <a:srgbClr val="004B87"/>
    <a:srgbClr val="DADB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80" autoAdjust="0"/>
    <p:restoredTop sz="96327" autoAdjust="0"/>
  </p:normalViewPr>
  <p:slideViewPr>
    <p:cSldViewPr showGuides="1">
      <p:cViewPr varScale="1">
        <p:scale>
          <a:sx n="170" d="100"/>
          <a:sy n="170" d="100"/>
        </p:scale>
        <p:origin x="1144" y="176"/>
      </p:cViewPr>
      <p:guideLst>
        <p:guide orient="horz" pos="1620"/>
        <p:guide orient="horz" pos="599"/>
        <p:guide pos="2880"/>
        <p:guide pos="5602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2" d="100"/>
        <a:sy n="162" d="100"/>
      </p:scale>
      <p:origin x="0" y="0"/>
    </p:cViewPr>
  </p:sorterViewPr>
  <p:notesViewPr>
    <p:cSldViewPr showGuides="1">
      <p:cViewPr varScale="1">
        <p:scale>
          <a:sx n="121" d="100"/>
          <a:sy n="121" d="100"/>
        </p:scale>
        <p:origin x="4938" y="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A697C-5849-4DDF-A6C8-08E6893940F4}" type="datetimeFigureOut">
              <a:rPr lang="en-AU" smtClean="0"/>
              <a:pPr/>
              <a:t>17/6/2025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014AF-979A-46D9-9B43-4C67319580D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44417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92BC2-9435-4D31-AEB3-5D5877AD6447}" type="datetimeFigureOut">
              <a:rPr lang="en-AU" smtClean="0"/>
              <a:pPr/>
              <a:t>17/6/2025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96215-5E4C-414D-A8DB-C38AA7CF7C2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18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Horizon 1 – Overcomplete tomography represents a Horizon 1 concept in that it could in 3 years become part of established inversions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96215-5E4C-414D-A8DB-C38AA7CF7C2A}" type="slidenum">
              <a:rPr lang="en-AU" smtClean="0"/>
              <a:pPr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99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32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8110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203598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2922403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516216" y="582251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 dirty="0">
                <a:solidFill>
                  <a:schemeClr val="bg1"/>
                </a:solidFill>
              </a:rPr>
              <a:t>Australia’s National Science Agency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0" y="267494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40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640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425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393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168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506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416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465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4488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5556648-49D5-4B5B-92D5-2DB59DEB59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84338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72631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6048672" cy="100811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95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7200800" cy="1623109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2A108-B854-40BC-AA72-4E9E7C74E5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66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8AE86-1CD5-4E73-826D-CE2783C6AC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22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293303-2843-4D52-97D9-AF77676C9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14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2880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920DF2-0C7F-4A3B-9BAF-D692009CA0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589A1-48A8-4C4C-9006-4BAA8009E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3687" y="413437"/>
            <a:ext cx="4316625" cy="431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7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6908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1532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266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707654"/>
            <a:ext cx="8640958" cy="302433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843558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1180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73959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54827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83587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4032446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2448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2598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4247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+ quar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853836" y="0"/>
            <a:ext cx="2282400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6336702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6336704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0" y="4878250"/>
            <a:ext cx="5986853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33576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25945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82742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30666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17B52948-05FD-444E-9ADC-BA5285595A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1851670"/>
            <a:ext cx="3960440" cy="2525068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828722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275605"/>
            <a:ext cx="7056784" cy="2736305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458469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571750"/>
            <a:ext cx="3600400" cy="2160240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915566"/>
            <a:ext cx="3600399" cy="1440160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4D81D-7CFA-4E8D-924E-F049F52C1B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700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1851670"/>
            <a:ext cx="3600400" cy="2847245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36676"/>
            <a:ext cx="3672408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F62FF1-8277-4CEC-A22F-7E8130E254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56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684076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785B6E-E88B-43F0-AF0F-FE873692AB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887" y="4177438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3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684076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FF943A-2EFE-4939-9416-AA45E8893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887" y="4177438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41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203598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2922403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516216" y="582251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 dirty="0">
                <a:solidFill>
                  <a:schemeClr val="bg1"/>
                </a:solidFill>
              </a:rPr>
              <a:t>Australia’s National Science Agency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A196B7-7271-40B8-B951-8FDD29916E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67494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78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74645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112482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87599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48174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81558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84997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1944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6382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5556648-49D5-4B5B-92D5-2DB59DEB59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006384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98494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6048672" cy="100811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DC4BE-CEEE-431B-9F14-9C57722140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887" y="4177438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130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6984776" cy="1623109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94113-D310-44FA-B463-B20C679AB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887" y="4177438"/>
            <a:ext cx="152274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216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E31894D-BB7F-4DA8-8D6C-C5A7A751E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711503A-192E-4575-80CF-A393277570CC}"/>
              </a:ext>
            </a:extLst>
          </p:cNvPr>
          <p:cNvSpPr/>
          <p:nvPr userDrawn="1"/>
        </p:nvSpPr>
        <p:spPr>
          <a:xfrm>
            <a:off x="251520" y="4711673"/>
            <a:ext cx="30243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219593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3F349AB-7817-4CF8-9EFC-2CD503B2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BB22E12-9556-46D6-9897-3CA8F81E5AF4}"/>
              </a:ext>
            </a:extLst>
          </p:cNvPr>
          <p:cNvSpPr/>
          <p:nvPr userDrawn="1"/>
        </p:nvSpPr>
        <p:spPr>
          <a:xfrm>
            <a:off x="251520" y="4711673"/>
            <a:ext cx="30243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222376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2880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2589A1-48A8-4C4C-9006-4BAA8009E4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3687" y="413437"/>
            <a:ext cx="4316625" cy="431662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2EE9FCB-7566-4817-BC3E-151216DAC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7F65CF7-BE56-42AE-89A3-8632383904C9}"/>
              </a:ext>
            </a:extLst>
          </p:cNvPr>
          <p:cNvSpPr/>
          <p:nvPr userDrawn="1"/>
        </p:nvSpPr>
        <p:spPr>
          <a:xfrm>
            <a:off x="251520" y="4711673"/>
            <a:ext cx="30243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3513602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84798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578863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85501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707654"/>
            <a:ext cx="8640958" cy="302433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843558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15066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495822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07331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14072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4032446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2448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2598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03267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+ quar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853836" y="0"/>
            <a:ext cx="2282400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6336702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6336704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0" y="4878250"/>
            <a:ext cx="5986853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84073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75922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32496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7384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17B52948-05FD-444E-9ADC-BA5285595A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1851670"/>
            <a:ext cx="3960440" cy="2525068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600878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275605"/>
            <a:ext cx="7056784" cy="2736305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0690027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571750"/>
            <a:ext cx="3600400" cy="2160240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915566"/>
            <a:ext cx="3600399" cy="1440160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3E1FEB1-B064-4A02-9F41-042BA4A65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D8E361E-CD87-443C-800B-4A44210D567D}"/>
              </a:ext>
            </a:extLst>
          </p:cNvPr>
          <p:cNvSpPr/>
          <p:nvPr userDrawn="1"/>
        </p:nvSpPr>
        <p:spPr>
          <a:xfrm>
            <a:off x="251520" y="4711673"/>
            <a:ext cx="3240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0984061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1851670"/>
            <a:ext cx="3600400" cy="2847245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36676"/>
            <a:ext cx="3672408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95896B-47EC-4FA1-B742-A753A240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19" y="267494"/>
            <a:ext cx="2731182" cy="68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DCE8BE1-B123-4F39-B7B9-5731EE8B58DC}"/>
              </a:ext>
            </a:extLst>
          </p:cNvPr>
          <p:cNvSpPr/>
          <p:nvPr userDrawn="1"/>
        </p:nvSpPr>
        <p:spPr>
          <a:xfrm>
            <a:off x="251520" y="4711673"/>
            <a:ext cx="3240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</a:t>
            </a:r>
          </a:p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53425235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576064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51845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 on behalf of the nation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387BE29-1632-4D81-AE78-54533B5FB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0" y="4213438"/>
            <a:ext cx="2731182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6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576064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1CABD70-4867-48FD-AC0D-DCF015F1B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0" y="4213438"/>
            <a:ext cx="2731182" cy="684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D3FF37-CBD0-4006-BB03-019DB869F03D}"/>
              </a:ext>
            </a:extLst>
          </p:cNvPr>
          <p:cNvSpPr/>
          <p:nvPr userDrawn="1"/>
        </p:nvSpPr>
        <p:spPr>
          <a:xfrm>
            <a:off x="251520" y="4850173"/>
            <a:ext cx="51845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 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86475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203598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2922403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652120" y="470994"/>
            <a:ext cx="32495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 dirty="0">
                <a:solidFill>
                  <a:schemeClr val="bg1"/>
                </a:solidFill>
              </a:rPr>
              <a:t>Operated by CSIRO, Australia’s National Science Agency, </a:t>
            </a:r>
            <a:br>
              <a:rPr lang="en-AU" sz="1000" dirty="0">
                <a:solidFill>
                  <a:schemeClr val="bg1"/>
                </a:solidFill>
              </a:rPr>
            </a:br>
            <a:r>
              <a:rPr lang="en-AU" sz="1000" dirty="0">
                <a:solidFill>
                  <a:schemeClr val="bg1"/>
                </a:solidFill>
              </a:rPr>
              <a:t>on behalf of the nation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4E7955D-800C-4935-BA3F-A34E93CC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520" y="267494"/>
            <a:ext cx="2731182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19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639224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47519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42754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193395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54104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887027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21172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51679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5556648-49D5-4B5B-92D5-2DB59DEB59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7071576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0078357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5760640" cy="100811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95FEBB1-2FB4-404D-B517-C1502B59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0" y="4213438"/>
            <a:ext cx="2731182" cy="68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3F3E07-2251-45C6-9608-F9B7BC275A58}"/>
              </a:ext>
            </a:extLst>
          </p:cNvPr>
          <p:cNvSpPr/>
          <p:nvPr userDrawn="1"/>
        </p:nvSpPr>
        <p:spPr>
          <a:xfrm>
            <a:off x="251520" y="4850173"/>
            <a:ext cx="51845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 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72092315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5760640" cy="1623109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6E1E94-9471-4672-BA14-8DD18A74F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0" y="4213438"/>
            <a:ext cx="2731182" cy="684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BBD1A7-F5C4-41D4-8812-4A43FA84033A}"/>
              </a:ext>
            </a:extLst>
          </p:cNvPr>
          <p:cNvSpPr/>
          <p:nvPr userDrawn="1"/>
        </p:nvSpPr>
        <p:spPr>
          <a:xfrm>
            <a:off x="251520" y="4850173"/>
            <a:ext cx="51845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Operated by CSIRO, Australia’s National Science Agency, on behalf of the nation</a:t>
            </a:r>
          </a:p>
        </p:txBody>
      </p:sp>
    </p:spTree>
    <p:extLst>
      <p:ext uri="{BB962C8B-B14F-4D97-AF65-F5344CB8AC3E}">
        <p14:creationId xmlns:p14="http://schemas.microsoft.com/office/powerpoint/2010/main" val="161674689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0E9AAB-FD72-2643-BFC4-B94B291F6B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67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779662"/>
            <a:ext cx="3600400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3651870"/>
            <a:ext cx="3600400" cy="576064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B9622D-F19E-432D-860A-326029CCE7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3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2880">
          <p15:clr>
            <a:srgbClr val="FBAE40"/>
          </p15:clr>
        </p15:guide>
        <p15:guide id="4" pos="560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A4BEA-90AA-46F4-829C-BDC63E08AE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09831" y="411510"/>
            <a:ext cx="4324337" cy="43204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8B3A7-6D79-4B41-84C1-E8DAF3E537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C4274-80E7-4D13-B882-F2E3C65753AE}"/>
              </a:ext>
            </a:extLst>
          </p:cNvPr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</p:spTree>
    <p:extLst>
      <p:ext uri="{BB962C8B-B14F-4D97-AF65-F5344CB8AC3E}">
        <p14:creationId xmlns:p14="http://schemas.microsoft.com/office/powerpoint/2010/main" val="1078919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8B3A7-6D79-4B41-84C1-E8DAF3E53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C4274-80E7-4D13-B882-F2E3C65753AE}"/>
              </a:ext>
            </a:extLst>
          </p:cNvPr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406DC2-4C63-CE6E-8989-E5CBD84A96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1760" y="411510"/>
            <a:ext cx="4320479" cy="4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1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8B3A7-6D79-4B41-84C1-E8DAF3E53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C4274-80E7-4D13-B882-F2E3C65753AE}"/>
              </a:ext>
            </a:extLst>
          </p:cNvPr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A1AF00-555A-4FD8-DF4E-B5BCF4779C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1759" y="409582"/>
            <a:ext cx="4320479" cy="4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4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globe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054777"/>
            <a:ext cx="2016224" cy="1728192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8B3A7-6D79-4B41-84C1-E8DAF3E53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2C4274-80E7-4D13-B882-F2E3C65753AE}"/>
              </a:ext>
            </a:extLst>
          </p:cNvPr>
          <p:cNvSpPr/>
          <p:nvPr userDrawn="1"/>
        </p:nvSpPr>
        <p:spPr>
          <a:xfrm>
            <a:off x="251520" y="4850173"/>
            <a:ext cx="302433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90276-62BF-55D4-CEF4-D7FFC9C597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1759" y="411510"/>
            <a:ext cx="4320479" cy="4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3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52781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559165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813709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707654"/>
            <a:ext cx="8640958" cy="302433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843558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22530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976071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058857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510724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half horizontal image (about us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2767500"/>
            <a:ext cx="9143999" cy="23760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543707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4032446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2448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2598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512395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+ quar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853836" y="0"/>
            <a:ext cx="2282400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6336702" cy="318120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6336704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0" y="4878250"/>
            <a:ext cx="5986853" cy="95510"/>
          </a:xfrm>
        </p:spPr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933981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395252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439555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53854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17B52948-05FD-444E-9ADC-BA5285595A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1851670"/>
            <a:ext cx="3960440" cy="2525068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7917595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275605"/>
            <a:ext cx="7056784" cy="2736305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18050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571750"/>
            <a:ext cx="3600400" cy="2160240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915566"/>
            <a:ext cx="3600399" cy="1440160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80831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6B03B6-C4D9-4B46-A461-4BD384CE34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5231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1851670"/>
            <a:ext cx="3600400" cy="2847245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 userDrawn="1"/>
        </p:nvSpPr>
        <p:spPr>
          <a:xfrm>
            <a:off x="251520" y="4850173"/>
            <a:ext cx="28803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36676"/>
            <a:ext cx="3672408" cy="639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F8021B-8237-44DA-97CC-7AE087B0E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1539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295232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D9A8B-B204-4EC3-9CD2-BA2AD366ED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51" y="4560533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48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2859782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4096622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4850173"/>
            <a:ext cx="309634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6C1F87-268D-4E82-9F10-8C710E20EE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51" y="4560533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0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1520" y="1203598"/>
            <a:ext cx="7930032" cy="115350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1520" y="2922403"/>
            <a:ext cx="7200800" cy="27394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940152" y="582251"/>
            <a:ext cx="296148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 dirty="0">
                <a:solidFill>
                  <a:schemeClr val="bg1"/>
                </a:solidFill>
              </a:rPr>
              <a:t>Australia’s National Science Agency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9876AC-9600-4B4D-B446-34DCB05E2B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2929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41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3585760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796275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31294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304648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10470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022428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040136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538494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55556648-49D5-4B5B-92D5-2DB59DEB59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060657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FontTx/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272121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6048672" cy="100811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251520" y="4850173"/>
            <a:ext cx="295232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B0BF06-28AD-4AE0-B95F-477AF982B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51" y="4560533"/>
            <a:ext cx="156720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6531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D40E9F-1680-46D9-A966-C00787EC8D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51" y="4560533"/>
            <a:ext cx="1567204" cy="3600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7200800" cy="1623109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1520" y="4850173"/>
            <a:ext cx="280831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 dirty="0">
                <a:solidFill>
                  <a:schemeClr val="accent3"/>
                </a:solidFill>
              </a:rPr>
              <a:t>Australia’s National Science Agency</a:t>
            </a:r>
          </a:p>
        </p:txBody>
      </p:sp>
    </p:spTree>
    <p:extLst>
      <p:ext uri="{BB962C8B-B14F-4D97-AF65-F5344CB8AC3E}">
        <p14:creationId xmlns:p14="http://schemas.microsoft.com/office/powerpoint/2010/main" val="321481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image" Target="../media/image2.emf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3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2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image" Target="../media/image5.sv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0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image" Target="../media/image7.emf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24" Type="http://schemas.openxmlformats.org/officeDocument/2006/relationships/theme" Target="../theme/theme6.xml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10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8.xml"/><Relationship Id="rId17" Type="http://schemas.openxmlformats.org/officeDocument/2006/relationships/image" Target="../media/image7.emf"/><Relationship Id="rId2" Type="http://schemas.openxmlformats.org/officeDocument/2006/relationships/slideLayout" Target="../slideLayouts/slideLayout108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479813" y="4561859"/>
            <a:ext cx="442169" cy="44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3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701" r:id="rId3"/>
    <p:sldLayoutId id="2147483685" r:id="rId4"/>
    <p:sldLayoutId id="2147483705" r:id="rId5"/>
    <p:sldLayoutId id="2147483686" r:id="rId6"/>
    <p:sldLayoutId id="2147483687" r:id="rId7"/>
    <p:sldLayoutId id="2147483688" r:id="rId8"/>
    <p:sldLayoutId id="2147483689" r:id="rId9"/>
    <p:sldLayoutId id="2147483708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1550788"/>
            <a:ext cx="8640958" cy="3181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7DD59A-4148-4107-89BD-9ACB60B45F7F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195486"/>
            <a:ext cx="936488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3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4" r:id="rId1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B5D801-8BF9-4650-9BFF-FFF9F24B1811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494" y="4561228"/>
            <a:ext cx="936488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1550788"/>
            <a:ext cx="8640958" cy="3181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8F4E070-DE66-4ABC-A8F6-3559DD6EA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1519" y="195486"/>
            <a:ext cx="1768081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5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  <p:sldLayoutId id="2147483800" r:id="rId1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8BB93D-47BD-4299-AC60-ADD2BF55C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53901" y="4561228"/>
            <a:ext cx="1768081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4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1550788"/>
            <a:ext cx="8640958" cy="3181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9F6DE-9351-1240-AACA-180705475965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90" y="245070"/>
            <a:ext cx="1010317" cy="23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2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824" r:id="rId4"/>
    <p:sldLayoutId id="2147483826" r:id="rId5"/>
    <p:sldLayoutId id="2147483825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827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 userDrawn="1"/>
        </p:nvSpPr>
        <p:spPr bwMode="auto"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auto"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46349F-4F50-4446-8BA9-4263776EBB91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858" y="4709569"/>
            <a:ext cx="1010317" cy="23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2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602">
          <p15:clr>
            <a:srgbClr val="F26B43"/>
          </p15:clr>
        </p15:guide>
        <p15:guide id="2" orient="horz" pos="31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10.xml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13.emf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4.png"/><Relationship Id="rId7" Type="http://schemas.openxmlformats.org/officeDocument/2006/relationships/image" Target="../media/image29.png"/><Relationship Id="rId12" Type="http://schemas.openxmlformats.org/officeDocument/2006/relationships/image" Target="../media/image1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0.xml"/><Relationship Id="rId6" Type="http://schemas.openxmlformats.org/officeDocument/2006/relationships/image" Target="../media/image35.png"/><Relationship Id="rId11" Type="http://schemas.openxmlformats.org/officeDocument/2006/relationships/image" Target="../media/image38.png"/><Relationship Id="rId5" Type="http://schemas.openxmlformats.org/officeDocument/2006/relationships/image" Target="../media/image28.png"/><Relationship Id="rId10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10.xml"/><Relationship Id="rId5" Type="http://schemas.openxmlformats.org/officeDocument/2006/relationships/image" Target="../media/image13.emf"/><Relationship Id="rId4" Type="http://schemas.openxmlformats.org/officeDocument/2006/relationships/hyperlink" Target="https://www.inlab.au/inlab-explor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10.x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244695-FC49-E0AB-9560-4AF20DB3A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964" y="750346"/>
            <a:ext cx="3960440" cy="2315787"/>
          </a:xfrm>
        </p:spPr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CoFI</a:t>
            </a:r>
            <a:r>
              <a:rPr lang="en-US" dirty="0"/>
              <a:t> to experiment with geophysical inversion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FD9E91-8D01-5437-AD11-15F68073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75321"/>
            <a:ext cx="4176464" cy="31478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7C003B-C33D-A684-D68A-9A003534D37E}"/>
              </a:ext>
            </a:extLst>
          </p:cNvPr>
          <p:cNvSpPr txBox="1"/>
          <p:nvPr/>
        </p:nvSpPr>
        <p:spPr>
          <a:xfrm>
            <a:off x="395536" y="3578682"/>
            <a:ext cx="2364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b="0" i="1" dirty="0">
                <a:solidFill>
                  <a:schemeClr val="bg1"/>
                </a:solidFill>
                <a:effectLst/>
                <a:latin typeface="Linux Libertine"/>
              </a:rPr>
              <a:t>The Anatomy Lesson of Dr. </a:t>
            </a:r>
            <a:r>
              <a:rPr lang="en-AU" sz="1000" b="0" i="1" dirty="0" err="1">
                <a:solidFill>
                  <a:schemeClr val="bg1"/>
                </a:solidFill>
                <a:effectLst/>
                <a:latin typeface="Linux Libertine"/>
              </a:rPr>
              <a:t>Nicolaes</a:t>
            </a:r>
            <a:r>
              <a:rPr lang="en-AU" sz="1000" b="0" i="1" dirty="0">
                <a:solidFill>
                  <a:schemeClr val="bg1"/>
                </a:solidFill>
                <a:effectLst/>
                <a:latin typeface="Linux Libertine"/>
              </a:rPr>
              <a:t> </a:t>
            </a:r>
            <a:r>
              <a:rPr lang="en-AU" sz="1000" b="0" i="1" dirty="0" err="1">
                <a:solidFill>
                  <a:schemeClr val="bg1"/>
                </a:solidFill>
                <a:effectLst/>
                <a:latin typeface="Linux Libertine"/>
              </a:rPr>
              <a:t>Tulp</a:t>
            </a:r>
            <a:endParaRPr lang="en-AU" sz="1000" b="0" i="0" dirty="0">
              <a:solidFill>
                <a:schemeClr val="bg1"/>
              </a:solidFill>
              <a:effectLst/>
              <a:latin typeface="Linux Libertin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D440C-EF2F-AF0F-AB24-E0DF0B59B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10AF12-763F-800F-4286-DE8A41176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92" y="4542334"/>
            <a:ext cx="1253984" cy="5824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A3F364-8A7A-7D9D-F6DF-59DB313C6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7" y="4619314"/>
            <a:ext cx="1645519" cy="3971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64C674-0AF2-D955-BA25-25AB0BDEAA44}"/>
              </a:ext>
            </a:extLst>
          </p:cNvPr>
          <p:cNvSpPr txBox="1"/>
          <p:nvPr/>
        </p:nvSpPr>
        <p:spPr>
          <a:xfrm>
            <a:off x="4856309" y="2931790"/>
            <a:ext cx="4583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effectLst/>
                <a:latin typeface="Helvetica Neue" panose="02000503000000020004" pitchFamily="2" charset="0"/>
              </a:rPr>
              <a:t>A </a:t>
            </a:r>
            <a:r>
              <a:rPr lang="en-AU" b="1" dirty="0">
                <a:effectLst/>
                <a:latin typeface="Helvetica Neue" panose="02000503000000020004" pitchFamily="2" charset="0"/>
              </a:rPr>
              <a:t>Co</a:t>
            </a:r>
            <a:r>
              <a:rPr lang="en-AU" dirty="0">
                <a:effectLst/>
                <a:latin typeface="Helvetica Neue" panose="02000503000000020004" pitchFamily="2" charset="0"/>
              </a:rPr>
              <a:t>mmon </a:t>
            </a:r>
            <a:r>
              <a:rPr lang="en-AU" b="1" dirty="0">
                <a:effectLst/>
                <a:latin typeface="Helvetica Neue" panose="02000503000000020004" pitchFamily="2" charset="0"/>
              </a:rPr>
              <a:t>F</a:t>
            </a:r>
            <a:r>
              <a:rPr lang="en-AU" dirty="0">
                <a:effectLst/>
                <a:latin typeface="Helvetica Neue" panose="02000503000000020004" pitchFamily="2" charset="0"/>
              </a:rPr>
              <a:t>ramework for </a:t>
            </a:r>
            <a:r>
              <a:rPr lang="en-AU" b="1" dirty="0">
                <a:effectLst/>
                <a:latin typeface="Helvetica Neue" panose="02000503000000020004" pitchFamily="2" charset="0"/>
              </a:rPr>
              <a:t>I</a:t>
            </a:r>
            <a:r>
              <a:rPr lang="en-AU" dirty="0">
                <a:effectLst/>
                <a:latin typeface="Helvetica Neue" panose="02000503000000020004" pitchFamily="2" charset="0"/>
              </a:rPr>
              <a:t>nference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3E0A9-CAD3-C123-8A04-047589722E09}"/>
              </a:ext>
            </a:extLst>
          </p:cNvPr>
          <p:cNvSpPr txBox="1"/>
          <p:nvPr/>
        </p:nvSpPr>
        <p:spPr>
          <a:xfrm>
            <a:off x="565479" y="3858102"/>
            <a:ext cx="38365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>
                <a:solidFill>
                  <a:srgbClr val="222832"/>
                </a:solidFill>
                <a:effectLst/>
                <a:latin typeface="-apple-system"/>
              </a:rPr>
              <a:t>This will be an interactive session where participation is encouraged…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D62715-63E5-FD82-143D-BF522D5155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199" y="4618119"/>
            <a:ext cx="1301161" cy="43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19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DC5E-E905-1FB8-7A87-EF0AA337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D0F6D15-1BAD-A061-380F-045FA2638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2</a:t>
            </a:fld>
            <a:r>
              <a:rPr lang="en-AU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A7AFD2-3BEA-21E7-FF42-8B65244FA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4F54E5-D131-C800-642F-46FBB7608C79}"/>
              </a:ext>
            </a:extLst>
          </p:cNvPr>
          <p:cNvSpPr txBox="1"/>
          <p:nvPr/>
        </p:nvSpPr>
        <p:spPr>
          <a:xfrm>
            <a:off x="492021" y="193970"/>
            <a:ext cx="772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600" dirty="0">
                <a:solidFill>
                  <a:schemeClr val="bg1">
                    <a:lumMod val="65000"/>
                  </a:schemeClr>
                </a:solidFill>
                <a:effectLst/>
                <a:latin typeface="+mj-lt"/>
              </a:rPr>
              <a:t>Discovery of Neptune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6831E-B686-3544-9B60-FAD133C78B60}"/>
              </a:ext>
            </a:extLst>
          </p:cNvPr>
          <p:cNvSpPr txBox="1"/>
          <p:nvPr/>
        </p:nvSpPr>
        <p:spPr>
          <a:xfrm>
            <a:off x="1043608" y="1010651"/>
            <a:ext cx="3394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﻿﻿</a:t>
            </a:r>
            <a:r>
              <a:rPr lang="en-AU" sz="1200" i="1" dirty="0"/>
              <a:t>Le Verrier discovered a planet “with the tip of a pen, without any instruments other than the strength of his calculations alone.”…</a:t>
            </a:r>
            <a:endParaRPr lang="en-US" sz="1200" i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8AA8F5-AF54-8C1E-D27D-8A621D4A0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10" y="1811613"/>
            <a:ext cx="3888432" cy="230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24CEC0-4A81-97CB-FBB7-337D0078EA05}"/>
              </a:ext>
            </a:extLst>
          </p:cNvPr>
          <p:cNvSpPr txBox="1"/>
          <p:nvPr/>
        </p:nvSpPr>
        <p:spPr>
          <a:xfrm>
            <a:off x="4860032" y="4104980"/>
            <a:ext cx="3888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rgbClr val="202122"/>
                </a:solidFill>
              </a:rPr>
              <a:t>U</a:t>
            </a:r>
            <a:r>
              <a:rPr lang="en-AU" sz="1000" b="0" i="0" dirty="0">
                <a:solidFill>
                  <a:srgbClr val="202122"/>
                </a:solidFill>
                <a:effectLst/>
              </a:rPr>
              <a:t>se the observed data on Uranus and Newton's law of gravitation to deduce the mass, position, and orbit of a perturbing body - Neptune</a:t>
            </a:r>
            <a:endParaRPr lang="en-US" sz="1000" dirty="0"/>
          </a:p>
        </p:txBody>
      </p:sp>
      <p:pic>
        <p:nvPicPr>
          <p:cNvPr id="19" name="Picture 18" descr="A diagram of a circle with numbers and a yellow dot&#10;&#10;AI-generated content may be incorrect.">
            <a:extLst>
              <a:ext uri="{FF2B5EF4-FFF2-40B4-BE49-F238E27FC236}">
                <a16:creationId xmlns:a16="http://schemas.microsoft.com/office/drawing/2014/main" id="{83AE53ED-82DB-FE5B-52C2-0AD0E06ED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338" y="432502"/>
            <a:ext cx="2971819" cy="2971819"/>
          </a:xfrm>
          <a:prstGeom prst="rect">
            <a:avLst/>
          </a:prstGeom>
        </p:spPr>
      </p:pic>
      <p:pic>
        <p:nvPicPr>
          <p:cNvPr id="21" name="Picture 20" descr="A green line graph with numbers and a green line&#10;&#10;AI-generated content may be incorrect.">
            <a:extLst>
              <a:ext uri="{FF2B5EF4-FFF2-40B4-BE49-F238E27FC236}">
                <a16:creationId xmlns:a16="http://schemas.microsoft.com/office/drawing/2014/main" id="{E42F8BB4-9128-1DB9-89AF-E8DE315C40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574" y="2996521"/>
            <a:ext cx="2718048" cy="10872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E2E8DD-32B0-A828-50BC-43A1C8034ECF}"/>
              </a:ext>
            </a:extLst>
          </p:cNvPr>
          <p:cNvSpPr txBox="1"/>
          <p:nvPr/>
        </p:nvSpPr>
        <p:spPr>
          <a:xfrm>
            <a:off x="827446" y="4120369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Lequeux</a:t>
            </a:r>
            <a:r>
              <a:rPr lang="en-US" sz="900" dirty="0"/>
              <a:t>, J. (2013). Le Verrier--magnificent and detestable astronomer. </a:t>
            </a:r>
          </a:p>
          <a:p>
            <a:r>
              <a:rPr lang="en-US" sz="900" dirty="0"/>
              <a:t>New York: Springer.</a:t>
            </a:r>
          </a:p>
        </p:txBody>
      </p:sp>
    </p:spTree>
    <p:extLst>
      <p:ext uri="{BB962C8B-B14F-4D97-AF65-F5344CB8AC3E}">
        <p14:creationId xmlns:p14="http://schemas.microsoft.com/office/powerpoint/2010/main" val="397887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3EE2B-88E2-1EF3-402B-FAEE4BAA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1363D5-437C-B2E8-CED2-5B2BE8D16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60" y="1208151"/>
            <a:ext cx="3652715" cy="3081978"/>
          </a:xfrm>
          <a:prstGeom prst="rect">
            <a:avLst/>
          </a:prstGeom>
        </p:spPr>
      </p:pic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03FC604-9C33-9B27-B43A-93BE7466C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715" y="96"/>
            <a:ext cx="540000" cy="540000"/>
          </a:xfrm>
          <a:prstGeom prst="rect">
            <a:avLst/>
          </a:prstGeom>
        </p:spPr>
      </p:pic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257E5AB-2081-7918-6E4E-CCC2DD6020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3</a:t>
            </a:fld>
            <a:r>
              <a:rPr lang="en-AU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D47BBD-83FC-591A-1528-33F5DCBAA485}"/>
              </a:ext>
            </a:extLst>
          </p:cNvPr>
          <p:cNvSpPr txBox="1"/>
          <p:nvPr/>
        </p:nvSpPr>
        <p:spPr>
          <a:xfrm>
            <a:off x="542366" y="4772116"/>
            <a:ext cx="1731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inlab.au</a:t>
            </a:r>
            <a:r>
              <a:rPr lang="en-US" sz="1400" dirty="0"/>
              <a:t>/</a:t>
            </a:r>
            <a:r>
              <a:rPr lang="en-US" sz="1400" dirty="0" err="1"/>
              <a:t>cofi</a:t>
            </a:r>
            <a:r>
              <a:rPr lang="en-US" sz="1400" dirty="0"/>
              <a:t>/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C1E875-8521-ADA2-5E5C-D9EE2DACF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028380-391B-9D5A-AA2C-6D7012FE5501}"/>
              </a:ext>
            </a:extLst>
          </p:cNvPr>
          <p:cNvSpPr txBox="1"/>
          <p:nvPr/>
        </p:nvSpPr>
        <p:spPr>
          <a:xfrm>
            <a:off x="492021" y="193970"/>
            <a:ext cx="772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600" dirty="0">
                <a:solidFill>
                  <a:schemeClr val="bg1">
                    <a:lumMod val="65000"/>
                  </a:schemeClr>
                </a:solidFill>
                <a:effectLst/>
                <a:latin typeface="+mj-lt"/>
              </a:rPr>
              <a:t>A </a:t>
            </a:r>
            <a:r>
              <a:rPr lang="en-AU" sz="3600" b="1" dirty="0">
                <a:solidFill>
                  <a:srgbClr val="C00000"/>
                </a:solidFill>
                <a:effectLst/>
                <a:latin typeface="+mj-lt"/>
              </a:rPr>
              <a:t>Co</a:t>
            </a:r>
            <a:r>
              <a:rPr lang="en-AU" sz="3600" dirty="0">
                <a:solidFill>
                  <a:schemeClr val="bg1">
                    <a:lumMod val="65000"/>
                  </a:schemeClr>
                </a:solidFill>
                <a:effectLst/>
                <a:latin typeface="+mj-lt"/>
              </a:rPr>
              <a:t>mmon </a:t>
            </a:r>
            <a:r>
              <a:rPr lang="en-AU" sz="3600" b="1" dirty="0">
                <a:solidFill>
                  <a:srgbClr val="C00000"/>
                </a:solidFill>
                <a:effectLst/>
                <a:latin typeface="+mj-lt"/>
              </a:rPr>
              <a:t>F</a:t>
            </a:r>
            <a:r>
              <a:rPr lang="en-AU" sz="3600" dirty="0">
                <a:solidFill>
                  <a:schemeClr val="bg1">
                    <a:lumMod val="65000"/>
                  </a:schemeClr>
                </a:solidFill>
                <a:effectLst/>
                <a:latin typeface="+mj-lt"/>
              </a:rPr>
              <a:t>ramework for </a:t>
            </a:r>
            <a:r>
              <a:rPr lang="en-AU" sz="3600" b="1" dirty="0">
                <a:solidFill>
                  <a:srgbClr val="C00000"/>
                </a:solidFill>
                <a:effectLst/>
                <a:latin typeface="+mj-lt"/>
              </a:rPr>
              <a:t>I</a:t>
            </a:r>
            <a:r>
              <a:rPr lang="en-AU" sz="3600" dirty="0">
                <a:solidFill>
                  <a:schemeClr val="bg1">
                    <a:lumMod val="65000"/>
                  </a:schemeClr>
                </a:solidFill>
                <a:effectLst/>
                <a:latin typeface="+mj-lt"/>
              </a:rPr>
              <a:t>nference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85837-207D-D807-9538-39CCCE340FAE}"/>
              </a:ext>
            </a:extLst>
          </p:cNvPr>
          <p:cNvSpPr txBox="1"/>
          <p:nvPr/>
        </p:nvSpPr>
        <p:spPr>
          <a:xfrm>
            <a:off x="4544701" y="3851683"/>
            <a:ext cx="4675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600" i="1" dirty="0">
                <a:solidFill>
                  <a:srgbClr val="FF0000"/>
                </a:solidFill>
                <a:effectLst/>
                <a:latin typeface="-apple-system"/>
              </a:rPr>
              <a:t>“A good example is the best sermon”</a:t>
            </a:r>
          </a:p>
          <a:p>
            <a:pPr algn="l"/>
            <a:r>
              <a:rPr lang="en-AU" sz="1600" b="0" i="0" dirty="0">
                <a:solidFill>
                  <a:srgbClr val="FF0000"/>
                </a:solidFill>
                <a:effectLst/>
                <a:latin typeface="-apple-system"/>
              </a:rPr>
              <a:t>                             	 – Benjamin Franklin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C3870D-6114-7882-D7B7-3F06A38D19CE}"/>
              </a:ext>
            </a:extLst>
          </p:cNvPr>
          <p:cNvSpPr txBox="1"/>
          <p:nvPr/>
        </p:nvSpPr>
        <p:spPr>
          <a:xfrm>
            <a:off x="4355976" y="1238545"/>
            <a:ext cx="467590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600" i="1" dirty="0">
                <a:solidFill>
                  <a:srgbClr val="222832"/>
                </a:solidFill>
                <a:effectLst/>
                <a:latin typeface="-apple-system"/>
              </a:rPr>
              <a:t>Vision</a:t>
            </a:r>
          </a:p>
          <a:p>
            <a:r>
              <a:rPr lang="en-AU" sz="1400" dirty="0" err="1">
                <a:effectLst/>
                <a:latin typeface="HelveticaNeue" panose="02000503000000020004" pitchFamily="2" charset="0"/>
              </a:rPr>
              <a:t>CoFI</a:t>
            </a:r>
            <a:r>
              <a:rPr lang="en-AU" sz="1400" dirty="0">
                <a:effectLst/>
                <a:latin typeface="HelveticaNeue" panose="02000503000000020004" pitchFamily="2" charset="0"/>
              </a:rPr>
              <a:t> provides industry, academia and government with a software platform underpinning research, training, and services in the application of inference methods to data.</a:t>
            </a:r>
            <a:endParaRPr lang="en-AU" sz="1400" dirty="0">
              <a:effectLst/>
            </a:endParaRPr>
          </a:p>
          <a:p>
            <a:pPr algn="l"/>
            <a:endParaRPr lang="en-AU" sz="1600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E4DB03-7CDA-7D95-F26C-809EEDF494EB}"/>
              </a:ext>
            </a:extLst>
          </p:cNvPr>
          <p:cNvSpPr txBox="1"/>
          <p:nvPr/>
        </p:nvSpPr>
        <p:spPr>
          <a:xfrm>
            <a:off x="4337308" y="2469651"/>
            <a:ext cx="46759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i="1" dirty="0">
                <a:solidFill>
                  <a:srgbClr val="222832"/>
                </a:solidFill>
                <a:latin typeface="-apple-system"/>
              </a:rPr>
              <a:t>Lower barriers in access to leading edge approaches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sz="1400" i="1" dirty="0">
              <a:solidFill>
                <a:srgbClr val="222832"/>
              </a:solidFill>
              <a:effectLst/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i="1" dirty="0">
                <a:solidFill>
                  <a:srgbClr val="222832"/>
                </a:solidFill>
                <a:effectLst/>
                <a:latin typeface="-apple-system"/>
              </a:rPr>
              <a:t>Reduce time in application of inference methods to data</a:t>
            </a:r>
            <a:br>
              <a:rPr lang="en-AU" sz="1400" i="1" dirty="0">
                <a:solidFill>
                  <a:srgbClr val="222832"/>
                </a:solidFill>
                <a:latin typeface="-apple-system"/>
              </a:rPr>
            </a:br>
            <a:endParaRPr lang="en-AU" sz="1400" i="1" dirty="0">
              <a:solidFill>
                <a:srgbClr val="222832"/>
              </a:solidFill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i="1" dirty="0">
                <a:solidFill>
                  <a:srgbClr val="222832"/>
                </a:solidFill>
                <a:effectLst/>
                <a:latin typeface="-apple-system"/>
              </a:rPr>
              <a:t>Interactive education environment for training in inversion</a:t>
            </a:r>
            <a:endParaRPr lang="en-AU" sz="1400" dirty="0">
              <a:effectLst/>
            </a:endParaRPr>
          </a:p>
          <a:p>
            <a:pPr algn="l"/>
            <a:endParaRPr lang="en-AU" sz="1400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182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3C9E8A2-92A8-360B-E6C2-527247882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ABF0DA7-211B-0231-9682-AC31D625A8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4</a:t>
            </a:fld>
            <a:r>
              <a:rPr lang="en-AU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A585A-6EFD-84E3-63C9-BC9FD21AD61E}"/>
              </a:ext>
            </a:extLst>
          </p:cNvPr>
          <p:cNvSpPr txBox="1"/>
          <p:nvPr/>
        </p:nvSpPr>
        <p:spPr>
          <a:xfrm>
            <a:off x="253577" y="120341"/>
            <a:ext cx="5806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600" dirty="0">
                <a:solidFill>
                  <a:schemeClr val="bg1">
                    <a:lumMod val="65000"/>
                  </a:schemeClr>
                </a:solidFill>
                <a:effectLst/>
                <a:latin typeface="+mj-lt"/>
              </a:rPr>
              <a:t>Two approaches to inversion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2E5C1-A34A-C58E-DFCA-CCFF26255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413" y="3975609"/>
            <a:ext cx="2983880" cy="5221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44654-FD3B-9326-F4CD-6B30E81E3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41" y="3947275"/>
            <a:ext cx="2808312" cy="4184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9BDEB6-9E8C-D16B-1640-604C393B29BA}"/>
              </a:ext>
            </a:extLst>
          </p:cNvPr>
          <p:cNvSpPr txBox="1"/>
          <p:nvPr/>
        </p:nvSpPr>
        <p:spPr>
          <a:xfrm>
            <a:off x="5814387" y="3549190"/>
            <a:ext cx="201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a target pdf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7805F4-52E0-A799-A9AD-4122D1C6277E}"/>
              </a:ext>
            </a:extLst>
          </p:cNvPr>
          <p:cNvSpPr txBox="1"/>
          <p:nvPr/>
        </p:nvSpPr>
        <p:spPr>
          <a:xfrm>
            <a:off x="1035308" y="3641056"/>
            <a:ext cx="3221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Optimisation</a:t>
            </a:r>
            <a:r>
              <a:rPr lang="en-US" dirty="0"/>
              <a:t> of a misfit function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B6B304-A699-91B6-6EAE-C30600E2A479}"/>
              </a:ext>
            </a:extLst>
          </p:cNvPr>
          <p:cNvSpPr txBox="1"/>
          <p:nvPr/>
        </p:nvSpPr>
        <p:spPr>
          <a:xfrm rot="16200000">
            <a:off x="-75693" y="1875973"/>
            <a:ext cx="2215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 estimation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56B235-55BB-BAC6-9E43-3058CF88DDCB}"/>
              </a:ext>
            </a:extLst>
          </p:cNvPr>
          <p:cNvSpPr txBox="1"/>
          <p:nvPr/>
        </p:nvSpPr>
        <p:spPr>
          <a:xfrm rot="16200000">
            <a:off x="4024218" y="2050115"/>
            <a:ext cx="2103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Ensemble method</a:t>
            </a:r>
          </a:p>
        </p:txBody>
      </p:sp>
      <p:pic>
        <p:nvPicPr>
          <p:cNvPr id="5" name="Picture 4" descr="A chart with numbers and symbols&#10;&#10;AI-generated content may be incorrect.">
            <a:extLst>
              <a:ext uri="{FF2B5EF4-FFF2-40B4-BE49-F238E27FC236}">
                <a16:creationId xmlns:a16="http://schemas.microsoft.com/office/drawing/2014/main" id="{BB36E420-3976-337E-D5C8-F4956BC70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98" y="798923"/>
            <a:ext cx="2932663" cy="2932663"/>
          </a:xfrm>
          <a:prstGeom prst="rect">
            <a:avLst/>
          </a:prstGeom>
        </p:spPr>
      </p:pic>
      <p:pic>
        <p:nvPicPr>
          <p:cNvPr id="6" name="Picture 5" descr="A green and yellow square with red dots&#10;&#10;AI-generated content may be incorrect.">
            <a:extLst>
              <a:ext uri="{FF2B5EF4-FFF2-40B4-BE49-F238E27FC236}">
                <a16:creationId xmlns:a16="http://schemas.microsoft.com/office/drawing/2014/main" id="{38F37DBB-69E6-59C1-D4D2-88C8783D04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7" y="588168"/>
            <a:ext cx="2919614" cy="291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4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892D53ED-7C32-1F19-5E5D-162D4397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06" y="2605950"/>
            <a:ext cx="2239241" cy="118993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1AA69A6-7EC3-C877-7373-53802334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Exploration is about possibilities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BA4328F-D2AB-9AB0-0E23-87CBFFD41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5</a:t>
            </a:fld>
            <a:r>
              <a:rPr lang="en-AU" dirty="0"/>
              <a:t> </a:t>
            </a:r>
          </a:p>
        </p:txBody>
      </p:sp>
      <p:pic>
        <p:nvPicPr>
          <p:cNvPr id="12" name="Picture 11" descr="A diagram of a model&#10;&#10;Description automatically generated">
            <a:extLst>
              <a:ext uri="{FF2B5EF4-FFF2-40B4-BE49-F238E27FC236}">
                <a16:creationId xmlns:a16="http://schemas.microsoft.com/office/drawing/2014/main" id="{F48165F2-18C9-74CF-1D08-130A75787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34" y="2934272"/>
            <a:ext cx="2175627" cy="1189935"/>
          </a:xfrm>
          <a:prstGeom prst="rect">
            <a:avLst/>
          </a:prstGeom>
        </p:spPr>
      </p:pic>
      <p:pic>
        <p:nvPicPr>
          <p:cNvPr id="13" name="Picture 12" descr="A yellow and green triangle pattern&#10;&#10;Description automatically generated with medium confidence">
            <a:extLst>
              <a:ext uri="{FF2B5EF4-FFF2-40B4-BE49-F238E27FC236}">
                <a16:creationId xmlns:a16="http://schemas.microsoft.com/office/drawing/2014/main" id="{528557AE-2045-21EC-2CB0-480AF021B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84" y="2605951"/>
            <a:ext cx="2425115" cy="11899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F80066-DAA1-6830-D202-F58E2678B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967" y="1492599"/>
            <a:ext cx="696492" cy="2157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B44A29-1657-188E-EE91-380F2ED8A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7824" y="1331142"/>
            <a:ext cx="2416098" cy="12593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495ED6-AF97-D610-17E2-F9317D6974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489" y="970420"/>
            <a:ext cx="2085403" cy="15372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7A0EC05-DB6A-DC02-B4B5-43910CE3878A}"/>
              </a:ext>
            </a:extLst>
          </p:cNvPr>
          <p:cNvSpPr txBox="1"/>
          <p:nvPr/>
        </p:nvSpPr>
        <p:spPr>
          <a:xfrm>
            <a:off x="7107472" y="1839605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Newton step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25E0A660-E5C3-C23D-9107-70E14432616B}"/>
              </a:ext>
            </a:extLst>
          </p:cNvPr>
          <p:cNvSpPr txBox="1">
            <a:spLocks/>
          </p:cNvSpPr>
          <p:nvPr/>
        </p:nvSpPr>
        <p:spPr>
          <a:xfrm>
            <a:off x="3991122" y="1093969"/>
            <a:ext cx="5629502" cy="3449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 err="1"/>
              <a:t>CoFI</a:t>
            </a:r>
            <a:r>
              <a:rPr lang="en-US" sz="1600" b="1" dirty="0"/>
              <a:t> - Co</a:t>
            </a:r>
            <a:r>
              <a:rPr lang="en-US" sz="1600" dirty="0"/>
              <a:t>mmon </a:t>
            </a:r>
            <a:r>
              <a:rPr lang="en-US" sz="1600" b="1" dirty="0"/>
              <a:t>F</a:t>
            </a:r>
            <a:r>
              <a:rPr lang="en-US" sz="1600" dirty="0"/>
              <a:t>ramework for </a:t>
            </a:r>
            <a:r>
              <a:rPr lang="en-US" sz="1600" b="1" dirty="0"/>
              <a:t>I</a:t>
            </a:r>
            <a:r>
              <a:rPr lang="en-US" sz="1600" dirty="0"/>
              <a:t>nference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77B3F0-39DE-3C6A-1E32-F22043DE0AA7}"/>
              </a:ext>
            </a:extLst>
          </p:cNvPr>
          <p:cNvSpPr txBox="1"/>
          <p:nvPr/>
        </p:nvSpPr>
        <p:spPr>
          <a:xfrm>
            <a:off x="7053947" y="3020225"/>
            <a:ext cx="785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trust-</a:t>
            </a:r>
            <a:r>
              <a:rPr lang="en-US" sz="1000" dirty="0" err="1"/>
              <a:t>kyrlov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46DD53-749A-2956-D063-4AB22B930078}"/>
              </a:ext>
            </a:extLst>
          </p:cNvPr>
          <p:cNvSpPr txBox="1"/>
          <p:nvPr/>
        </p:nvSpPr>
        <p:spPr>
          <a:xfrm>
            <a:off x="4805035" y="3074064"/>
            <a:ext cx="5581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RAdam</a:t>
            </a:r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5D70BB-C889-AD27-EA5A-A19AEB29203A}"/>
              </a:ext>
            </a:extLst>
          </p:cNvPr>
          <p:cNvSpPr txBox="1"/>
          <p:nvPr/>
        </p:nvSpPr>
        <p:spPr>
          <a:xfrm>
            <a:off x="411269" y="2640578"/>
            <a:ext cx="2515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Electrical resistivity tomography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F8AAAFA-D657-6BEF-9786-4428FE8EAC1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022"/>
          <a:stretch/>
        </p:blipFill>
        <p:spPr>
          <a:xfrm>
            <a:off x="3092491" y="1387697"/>
            <a:ext cx="2371844" cy="114291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D89187-5338-D339-E64B-3AFEEF2398F6}"/>
              </a:ext>
            </a:extLst>
          </p:cNvPr>
          <p:cNvSpPr txBox="1"/>
          <p:nvPr/>
        </p:nvSpPr>
        <p:spPr>
          <a:xfrm>
            <a:off x="4858735" y="1809025"/>
            <a:ext cx="5341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dogleg</a:t>
            </a:r>
          </a:p>
        </p:txBody>
      </p:sp>
      <p:pic>
        <p:nvPicPr>
          <p:cNvPr id="5" name="Picture 4" descr="A qr code with a black and white background&#10;&#10;Description automatically generated">
            <a:extLst>
              <a:ext uri="{FF2B5EF4-FFF2-40B4-BE49-F238E27FC236}">
                <a16:creationId xmlns:a16="http://schemas.microsoft.com/office/drawing/2014/main" id="{150FC434-D2E0-C665-C13F-D08ABDAA9F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074" y="1954"/>
            <a:ext cx="559971" cy="55997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0F46EAA8-C7E9-0493-3D20-4E9672DBF1E6}"/>
              </a:ext>
            </a:extLst>
          </p:cNvPr>
          <p:cNvSpPr txBox="1">
            <a:spLocks/>
          </p:cNvSpPr>
          <p:nvPr/>
        </p:nvSpPr>
        <p:spPr>
          <a:xfrm>
            <a:off x="3565295" y="4026607"/>
            <a:ext cx="5629502" cy="3449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and so is finding an inference method using </a:t>
            </a:r>
            <a:r>
              <a:rPr lang="en-US" sz="1600" dirty="0" err="1"/>
              <a:t>CoFI</a:t>
            </a:r>
            <a:r>
              <a:rPr lang="en-US" sz="1600" dirty="0"/>
              <a:t>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085F1A-1839-4BDD-05B4-A92C0D27BC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dirty="0"/>
              <a:t>Momentum based optimisers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E9D4A-4255-9A9A-4DBC-F197C3DBD8BA}"/>
              </a:ext>
            </a:extLst>
          </p:cNvPr>
          <p:cNvSpPr txBox="1"/>
          <p:nvPr/>
        </p:nvSpPr>
        <p:spPr>
          <a:xfrm>
            <a:off x="525392" y="1246197"/>
            <a:ext cx="42626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Vanilla iterative non-linear optimizers </a:t>
            </a:r>
          </a:p>
          <a:p>
            <a:r>
              <a:rPr lang="en-US" dirty="0"/>
              <a:t>only consider the objective function at </a:t>
            </a:r>
          </a:p>
          <a:p>
            <a:r>
              <a:rPr lang="en-US" dirty="0"/>
              <a:t>the current location</a:t>
            </a:r>
          </a:p>
          <a:p>
            <a:endParaRPr lang="en-US" dirty="0"/>
          </a:p>
          <a:p>
            <a:r>
              <a:rPr lang="en-US" dirty="0"/>
              <a:t>Machine learning methods are frequently applied to noisy data</a:t>
            </a:r>
          </a:p>
          <a:p>
            <a:endParaRPr lang="en-US" dirty="0"/>
          </a:p>
          <a:p>
            <a:r>
              <a:rPr lang="en-AU" dirty="0"/>
              <a:t>Build inertia into the search direction to overcome local minima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2CBBA9-FAE4-87CF-5EDE-3950B77E2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19" y="4039681"/>
            <a:ext cx="4390256" cy="3424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375606-C00A-D8DA-B913-944DEC9BC8F4}"/>
              </a:ext>
            </a:extLst>
          </p:cNvPr>
          <p:cNvSpPr txBox="1"/>
          <p:nvPr/>
        </p:nvSpPr>
        <p:spPr>
          <a:xfrm>
            <a:off x="467357" y="4432456"/>
            <a:ext cx="3235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pytorch.org</a:t>
            </a:r>
            <a:r>
              <a:rPr lang="en-US" sz="800" dirty="0"/>
              <a:t>/docs/stable/generated/</a:t>
            </a:r>
            <a:r>
              <a:rPr lang="en-US" sz="800" dirty="0" err="1"/>
              <a:t>torch.optim.RAdam.html</a:t>
            </a:r>
            <a:endParaRPr lang="en-US" sz="800" dirty="0"/>
          </a:p>
        </p:txBody>
      </p:sp>
      <p:pic>
        <p:nvPicPr>
          <p:cNvPr id="26" name="Picture 25" descr="A diagram of a model&#10;&#10;Description automatically generated">
            <a:extLst>
              <a:ext uri="{FF2B5EF4-FFF2-40B4-BE49-F238E27FC236}">
                <a16:creationId xmlns:a16="http://schemas.microsoft.com/office/drawing/2014/main" id="{1B4892B6-00BA-B06A-4F62-B48DE11AE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562" y="721372"/>
            <a:ext cx="2175627" cy="1189935"/>
          </a:xfrm>
          <a:prstGeom prst="rect">
            <a:avLst/>
          </a:prstGeom>
        </p:spPr>
      </p:pic>
      <p:pic>
        <p:nvPicPr>
          <p:cNvPr id="30" name="Picture 29" descr="A yellow and green triangle pattern&#10;&#10;Description automatically generated with medium confidence">
            <a:extLst>
              <a:ext uri="{FF2B5EF4-FFF2-40B4-BE49-F238E27FC236}">
                <a16:creationId xmlns:a16="http://schemas.microsoft.com/office/drawing/2014/main" id="{C65A84F9-9EA6-746B-A274-016AEDF46F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671" y="3100775"/>
            <a:ext cx="2425115" cy="1189935"/>
          </a:xfrm>
          <a:prstGeom prst="rect">
            <a:avLst/>
          </a:prstGeom>
        </p:spPr>
      </p:pic>
      <p:pic>
        <p:nvPicPr>
          <p:cNvPr id="32" name="Picture 31" descr="A colorful triangle pattern with text&#10;&#10;Description automatically generated with medium confidence">
            <a:extLst>
              <a:ext uri="{FF2B5EF4-FFF2-40B4-BE49-F238E27FC236}">
                <a16:creationId xmlns:a16="http://schemas.microsoft.com/office/drawing/2014/main" id="{601E846A-A630-8D78-96DE-0B7EF66900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37" y="1911307"/>
            <a:ext cx="2343252" cy="117606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F0F3974-4851-EEB5-5EFF-C4E55C12D4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909" y="1163241"/>
            <a:ext cx="815398" cy="2525299"/>
          </a:xfrm>
          <a:prstGeom prst="rect">
            <a:avLst/>
          </a:prstGeom>
        </p:spPr>
      </p:pic>
      <p:pic>
        <p:nvPicPr>
          <p:cNvPr id="37" name="Picture 36" descr="A colorful triangle pattern with text&#10;&#10;Description automatically generated with medium confidence">
            <a:extLst>
              <a:ext uri="{FF2B5EF4-FFF2-40B4-BE49-F238E27FC236}">
                <a16:creationId xmlns:a16="http://schemas.microsoft.com/office/drawing/2014/main" id="{54A6A9A2-2986-2526-152B-E52137E2274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278"/>
          <a:stretch/>
        </p:blipFill>
        <p:spPr>
          <a:xfrm>
            <a:off x="5802810" y="716399"/>
            <a:ext cx="180949" cy="117606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FB413FB-F200-4A1A-DBCB-61D15C8A8A0B}"/>
              </a:ext>
            </a:extLst>
          </p:cNvPr>
          <p:cNvSpPr txBox="1"/>
          <p:nvPr/>
        </p:nvSpPr>
        <p:spPr>
          <a:xfrm>
            <a:off x="7452320" y="3309558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RAdam</a:t>
            </a:r>
            <a:endParaRPr lang="en-US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034FDB-E0AE-1A17-F00D-B1E93E3832A2}"/>
              </a:ext>
            </a:extLst>
          </p:cNvPr>
          <p:cNvSpPr txBox="1"/>
          <p:nvPr/>
        </p:nvSpPr>
        <p:spPr>
          <a:xfrm>
            <a:off x="7164288" y="2119777"/>
            <a:ext cx="43798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trust-</a:t>
            </a:r>
            <a:r>
              <a:rPr lang="en-US" sz="1100" dirty="0" err="1"/>
              <a:t>kyrlov</a:t>
            </a:r>
            <a:endParaRPr lang="en-US" sz="1100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61BB72C-9AF7-6F3C-30D5-05BB521DBB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6</a:t>
            </a:fld>
            <a:r>
              <a:rPr lang="en-AU" dirty="0"/>
              <a:t> </a:t>
            </a:r>
          </a:p>
        </p:txBody>
      </p:sp>
      <p:pic>
        <p:nvPicPr>
          <p:cNvPr id="7" name="Picture 6" descr="A qr code with a black and white background&#10;&#10;Description automatically generated">
            <a:extLst>
              <a:ext uri="{FF2B5EF4-FFF2-40B4-BE49-F238E27FC236}">
                <a16:creationId xmlns:a16="http://schemas.microsoft.com/office/drawing/2014/main" id="{DD551172-56B0-0A9E-3BB6-F819B04D11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634" y="1"/>
            <a:ext cx="639366" cy="6393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A4A6D6-9DFF-9779-1302-84651C35DB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7999" y="3651308"/>
            <a:ext cx="643319" cy="249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0BF68E-12EF-FCC1-6117-D10C77FBB1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7999" y="2477433"/>
            <a:ext cx="712688" cy="2952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EA0F20-320C-F15A-7C94-95EAB1A10C6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6250" b="8595"/>
          <a:stretch/>
        </p:blipFill>
        <p:spPr>
          <a:xfrm>
            <a:off x="5097998" y="1236534"/>
            <a:ext cx="643320" cy="2114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3F1520-EE1E-35FF-E300-37440B37F64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6250" b="8595"/>
          <a:stretch/>
        </p:blipFill>
        <p:spPr>
          <a:xfrm>
            <a:off x="5070557" y="2194585"/>
            <a:ext cx="643320" cy="2114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9213E7-2A11-8EBA-30B2-7A0B02EF5FB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6250" b="8595"/>
          <a:stretch/>
        </p:blipFill>
        <p:spPr>
          <a:xfrm>
            <a:off x="5101577" y="3364102"/>
            <a:ext cx="643320" cy="211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8E65DE-E797-C448-5280-221C0737D0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1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1130-B04C-7FB2-3A6F-FB7B6227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31BB15-C5D3-7922-E873-21CF9805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CoFI</a:t>
            </a:r>
            <a:r>
              <a:rPr lang="en-US" dirty="0"/>
              <a:t> explorer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47CBC4-FC3C-A36D-2A50-286FF5F15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7574"/>
            <a:ext cx="7905669" cy="20994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0B4E7E-0FA5-740A-13BE-EB709E4DBF7D}"/>
              </a:ext>
            </a:extLst>
          </p:cNvPr>
          <p:cNvSpPr txBox="1"/>
          <p:nvPr/>
        </p:nvSpPr>
        <p:spPr>
          <a:xfrm>
            <a:off x="575556" y="3556409"/>
            <a:ext cx="799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 on existing and emerging software packages</a:t>
            </a:r>
          </a:p>
          <a:p>
            <a:r>
              <a:rPr lang="en-US" b="1" dirty="0"/>
              <a:t>Example driven </a:t>
            </a:r>
            <a:r>
              <a:rPr lang="en-US" dirty="0"/>
              <a:t>– we only add a method if there is an example that needs it</a:t>
            </a:r>
          </a:p>
          <a:p>
            <a:r>
              <a:rPr lang="en-US" dirty="0"/>
              <a:t>Findable, accessible, interoperable and reusable software</a:t>
            </a:r>
          </a:p>
        </p:txBody>
      </p:sp>
      <p:pic>
        <p:nvPicPr>
          <p:cNvPr id="12" name="Picture 11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EC10D650-BB27-5809-25DC-0AE59A997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012" y="3799"/>
            <a:ext cx="540000" cy="54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BDE6E6-13B9-8776-4AC3-E6A183D2A19A}"/>
              </a:ext>
            </a:extLst>
          </p:cNvPr>
          <p:cNvSpPr txBox="1"/>
          <p:nvPr/>
        </p:nvSpPr>
        <p:spPr>
          <a:xfrm>
            <a:off x="6660232" y="3178214"/>
            <a:ext cx="2340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www.inlab.au/inlab-explorer </a:t>
            </a:r>
            <a:endParaRPr lang="en-US" sz="1100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E622B4F-6F44-9847-1337-DCD1DEE81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7</a:t>
            </a:fld>
            <a:r>
              <a:rPr lang="en-AU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A08C82-1A8B-6A69-0F17-9C84CE259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6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811D-420F-7B31-B39C-BE572E03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0C2A1F25-6329-125D-713B-FC6830395D12}"/>
              </a:ext>
            </a:extLst>
          </p:cNvPr>
          <p:cNvSpPr txBox="1"/>
          <p:nvPr/>
        </p:nvSpPr>
        <p:spPr>
          <a:xfrm>
            <a:off x="1314721" y="3583456"/>
            <a:ext cx="3041255" cy="9051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E564C2-652F-C812-3E10-034387E8D252}"/>
              </a:ext>
            </a:extLst>
          </p:cNvPr>
          <p:cNvSpPr txBox="1"/>
          <p:nvPr/>
        </p:nvSpPr>
        <p:spPr>
          <a:xfrm>
            <a:off x="3169651" y="1829792"/>
            <a:ext cx="2640949" cy="9051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3D898F-90C1-3BD4-B375-8D72098AAC3D}"/>
              </a:ext>
            </a:extLst>
          </p:cNvPr>
          <p:cNvSpPr txBox="1"/>
          <p:nvPr/>
        </p:nvSpPr>
        <p:spPr>
          <a:xfrm>
            <a:off x="179512" y="1053055"/>
            <a:ext cx="2880320" cy="1160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A43A97-DB9D-B53B-EDE2-9F6C95AE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Capturing an inverse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B9574-4E87-8313-47E2-DF2E31BDEE65}"/>
              </a:ext>
            </a:extLst>
          </p:cNvPr>
          <p:cNvSpPr txBox="1"/>
          <p:nvPr/>
        </p:nvSpPr>
        <p:spPr>
          <a:xfrm>
            <a:off x="5895478" y="853912"/>
            <a:ext cx="31235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inverse method needs to only access a subset of features of a forward problem</a:t>
            </a:r>
          </a:p>
          <a:p>
            <a:endParaRPr lang="en-US" dirty="0"/>
          </a:p>
          <a:p>
            <a:r>
              <a:rPr lang="en-US" dirty="0"/>
              <a:t>Capturing a rich set of examples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0A7B0A-DC1A-5FEA-F135-4A4330D34190}"/>
              </a:ext>
            </a:extLst>
          </p:cNvPr>
          <p:cNvSpPr txBox="1"/>
          <p:nvPr/>
        </p:nvSpPr>
        <p:spPr>
          <a:xfrm>
            <a:off x="1403648" y="3925935"/>
            <a:ext cx="2880320" cy="430887"/>
          </a:xfrm>
          <a:prstGeom prst="rect">
            <a:avLst/>
          </a:prstGeom>
          <a:solidFill>
            <a:srgbClr val="001D34"/>
          </a:solidFill>
        </p:spPr>
        <p:txBody>
          <a:bodyPr wrap="square">
            <a:spAutoFit/>
          </a:bodyPr>
          <a:lstStyle/>
          <a:p>
            <a:r>
              <a:rPr lang="en-AU" sz="1100" dirty="0">
                <a:solidFill>
                  <a:schemeClr val="bg1"/>
                </a:solidFill>
                <a:effectLst/>
              </a:rPr>
              <a:t>inv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>
                <a:solidFill>
                  <a:schemeClr val="bg1"/>
                </a:solidFill>
                <a:effectLst/>
              </a:rPr>
              <a:t>=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>
                <a:solidFill>
                  <a:schemeClr val="bg1"/>
                </a:solidFill>
                <a:effectLst/>
              </a:rPr>
              <a:t>Inversion(</a:t>
            </a:r>
            <a:r>
              <a:rPr lang="en-AU" sz="1100" dirty="0" err="1">
                <a:solidFill>
                  <a:schemeClr val="bg1"/>
                </a:solidFill>
                <a:effectLst/>
              </a:rPr>
              <a:t>inv_problem</a:t>
            </a:r>
            <a:r>
              <a:rPr lang="en-AU" sz="1100" dirty="0">
                <a:solidFill>
                  <a:schemeClr val="bg1"/>
                </a:solidFill>
                <a:effectLst/>
              </a:rPr>
              <a:t>,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 err="1">
                <a:solidFill>
                  <a:schemeClr val="bg1"/>
                </a:solidFill>
                <a:effectLst/>
              </a:rPr>
              <a:t>inv_options</a:t>
            </a:r>
            <a:r>
              <a:rPr lang="en-AU" sz="1100" dirty="0">
                <a:solidFill>
                  <a:schemeClr val="bg1"/>
                </a:solidFill>
                <a:effectLst/>
              </a:rPr>
              <a:t>)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</a:p>
          <a:p>
            <a:r>
              <a:rPr lang="en-AU" sz="1100" dirty="0">
                <a:solidFill>
                  <a:schemeClr val="bg1"/>
                </a:solidFill>
                <a:effectLst/>
              </a:rPr>
              <a:t>result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>
                <a:solidFill>
                  <a:schemeClr val="bg1"/>
                </a:solidFill>
                <a:effectLst/>
              </a:rPr>
              <a:t>=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 err="1">
                <a:solidFill>
                  <a:schemeClr val="bg1"/>
                </a:solidFill>
                <a:effectLst/>
              </a:rPr>
              <a:t>inv.run</a:t>
            </a:r>
            <a:r>
              <a:rPr lang="en-AU" sz="1100" dirty="0">
                <a:solidFill>
                  <a:schemeClr val="bg1"/>
                </a:solidFill>
                <a:effectLst/>
              </a:rPr>
              <a:t>()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78816A-22C3-94F4-6F6C-9D6BA58ED4B9}"/>
              </a:ext>
            </a:extLst>
          </p:cNvPr>
          <p:cNvSpPr txBox="1"/>
          <p:nvPr/>
        </p:nvSpPr>
        <p:spPr>
          <a:xfrm>
            <a:off x="265002" y="1389007"/>
            <a:ext cx="2685622" cy="769441"/>
          </a:xfrm>
          <a:prstGeom prst="rect">
            <a:avLst/>
          </a:prstGeom>
          <a:solidFill>
            <a:srgbClr val="001D34"/>
          </a:solidFill>
        </p:spPr>
        <p:txBody>
          <a:bodyPr wrap="square">
            <a:spAutoFit/>
          </a:bodyPr>
          <a:lstStyle/>
          <a:p>
            <a:r>
              <a:rPr lang="en-AU" sz="1100" dirty="0" err="1">
                <a:solidFill>
                  <a:schemeClr val="bg1"/>
                </a:solidFill>
                <a:effectLst/>
              </a:rPr>
              <a:t>inv_problem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>
                <a:solidFill>
                  <a:schemeClr val="bg1"/>
                </a:solidFill>
                <a:effectLst/>
              </a:rPr>
              <a:t>=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 err="1">
                <a:solidFill>
                  <a:schemeClr val="bg1"/>
                </a:solidFill>
                <a:effectLst/>
              </a:rPr>
              <a:t>BaseProblem</a:t>
            </a:r>
            <a:r>
              <a:rPr lang="en-AU" sz="1100" dirty="0">
                <a:solidFill>
                  <a:schemeClr val="bg1"/>
                </a:solidFill>
                <a:effectLst/>
              </a:rPr>
              <a:t>()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</a:p>
          <a:p>
            <a:r>
              <a:rPr lang="en-AU" sz="1100" dirty="0" err="1">
                <a:solidFill>
                  <a:schemeClr val="bg1"/>
                </a:solidFill>
                <a:effectLst/>
              </a:rPr>
              <a:t>inv_problem.set_objective</a:t>
            </a:r>
            <a:r>
              <a:rPr lang="en-AU" sz="1100" dirty="0">
                <a:solidFill>
                  <a:schemeClr val="bg1"/>
                </a:solidFill>
                <a:effectLst/>
              </a:rPr>
              <a:t>( </a:t>
            </a:r>
            <a:r>
              <a:rPr lang="en-AU" sz="1100" dirty="0">
                <a:solidFill>
                  <a:srgbClr val="FF0000"/>
                </a:solidFill>
                <a:effectLst/>
              </a:rPr>
              <a:t>DEFINE ME</a:t>
            </a:r>
            <a:r>
              <a:rPr lang="en-AU" sz="1100" dirty="0">
                <a:solidFill>
                  <a:schemeClr val="bg1"/>
                </a:solidFill>
                <a:effectLst/>
              </a:rPr>
              <a:t>)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</a:p>
          <a:p>
            <a:r>
              <a:rPr lang="en-AU" sz="1100" dirty="0" err="1">
                <a:solidFill>
                  <a:schemeClr val="bg1"/>
                </a:solidFill>
                <a:effectLst/>
              </a:rPr>
              <a:t>inv_problem.set_jacobian</a:t>
            </a:r>
            <a:r>
              <a:rPr lang="en-AU" sz="1100" dirty="0">
                <a:solidFill>
                  <a:schemeClr val="bg1"/>
                </a:solidFill>
                <a:effectLst/>
              </a:rPr>
              <a:t>(</a:t>
            </a:r>
            <a:r>
              <a:rPr lang="en-AU" sz="1100" dirty="0">
                <a:solidFill>
                  <a:srgbClr val="FF0000"/>
                </a:solidFill>
                <a:effectLst/>
              </a:rPr>
              <a:t>DEFINE ME</a:t>
            </a:r>
            <a:r>
              <a:rPr lang="en-AU" sz="1100" dirty="0">
                <a:solidFill>
                  <a:schemeClr val="bg1"/>
                </a:solidFill>
                <a:effectLst/>
              </a:rPr>
              <a:t>)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</a:p>
          <a:p>
            <a:r>
              <a:rPr lang="en-AU" sz="1100" dirty="0" err="1">
                <a:solidFill>
                  <a:schemeClr val="bg1"/>
                </a:solidFill>
                <a:effectLst/>
              </a:rPr>
              <a:t>inv_problem.set_initial_model</a:t>
            </a:r>
            <a:r>
              <a:rPr lang="en-AU" sz="1100" dirty="0">
                <a:solidFill>
                  <a:schemeClr val="bg1"/>
                </a:solidFill>
                <a:effectLst/>
              </a:rPr>
              <a:t>(</a:t>
            </a:r>
            <a:r>
              <a:rPr lang="en-AU" sz="1100" dirty="0">
                <a:solidFill>
                  <a:srgbClr val="FF0000"/>
                </a:solidFill>
                <a:effectLst/>
              </a:rPr>
              <a:t>DEFINE ME</a:t>
            </a:r>
            <a:r>
              <a:rPr lang="en-AU" sz="1100" dirty="0">
                <a:solidFill>
                  <a:schemeClr val="bg1"/>
                </a:solidFill>
                <a:effectLst/>
              </a:rPr>
              <a:t>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BAA41-E2E4-31C5-8FF2-26B876473B8E}"/>
              </a:ext>
            </a:extLst>
          </p:cNvPr>
          <p:cNvSpPr txBox="1"/>
          <p:nvPr/>
        </p:nvSpPr>
        <p:spPr>
          <a:xfrm>
            <a:off x="3252592" y="2223989"/>
            <a:ext cx="2492134" cy="430887"/>
          </a:xfrm>
          <a:prstGeom prst="rect">
            <a:avLst/>
          </a:prstGeom>
          <a:solidFill>
            <a:srgbClr val="001D34"/>
          </a:solidFill>
        </p:spPr>
        <p:txBody>
          <a:bodyPr wrap="square">
            <a:spAutoFit/>
          </a:bodyPr>
          <a:lstStyle/>
          <a:p>
            <a:r>
              <a:rPr lang="en-AU" sz="1100" dirty="0" err="1">
                <a:solidFill>
                  <a:schemeClr val="bg1"/>
                </a:solidFill>
                <a:effectLst/>
              </a:rPr>
              <a:t>inv_options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>
                <a:solidFill>
                  <a:schemeClr val="bg1"/>
                </a:solidFill>
                <a:effectLst/>
              </a:rPr>
              <a:t>=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  <a:r>
              <a:rPr lang="en-AU" sz="1100" dirty="0" err="1">
                <a:solidFill>
                  <a:schemeClr val="bg1"/>
                </a:solidFill>
                <a:effectLst/>
              </a:rPr>
              <a:t>InversionOptions</a:t>
            </a:r>
            <a:r>
              <a:rPr lang="en-AU" sz="1100" dirty="0">
                <a:solidFill>
                  <a:schemeClr val="bg1"/>
                </a:solidFill>
                <a:effectLst/>
              </a:rPr>
              <a:t>()</a:t>
            </a:r>
            <a:r>
              <a:rPr lang="en-AU" sz="1100" dirty="0">
                <a:solidFill>
                  <a:schemeClr val="bg1"/>
                </a:solidFill>
              </a:rPr>
              <a:t> </a:t>
            </a:r>
          </a:p>
          <a:p>
            <a:r>
              <a:rPr lang="en-AU" sz="1100" dirty="0" err="1">
                <a:solidFill>
                  <a:schemeClr val="bg1"/>
                </a:solidFill>
                <a:effectLst/>
              </a:rPr>
              <a:t>inv_options.set_tool</a:t>
            </a:r>
            <a:r>
              <a:rPr lang="en-AU" sz="1100" dirty="0">
                <a:solidFill>
                  <a:schemeClr val="bg1"/>
                </a:solidFill>
                <a:effectLst/>
              </a:rPr>
              <a:t>("</a:t>
            </a:r>
            <a:r>
              <a:rPr lang="en-AU" sz="1100" dirty="0" err="1">
                <a:solidFill>
                  <a:srgbClr val="FF0000"/>
                </a:solidFill>
                <a:effectLst/>
              </a:rPr>
              <a:t>scipy.linalg.lstsq</a:t>
            </a:r>
            <a:r>
              <a:rPr lang="en-AU" sz="1100" dirty="0">
                <a:solidFill>
                  <a:schemeClr val="bg1"/>
                </a:solidFill>
                <a:effectLst/>
              </a:rPr>
              <a:t>")</a:t>
            </a:r>
            <a:endParaRPr lang="en-AU" sz="1100" dirty="0">
              <a:solidFill>
                <a:schemeClr val="bg1"/>
              </a:solidFill>
            </a:endParaRPr>
          </a:p>
        </p:txBody>
      </p:sp>
      <p:pic>
        <p:nvPicPr>
          <p:cNvPr id="17" name="Picture 1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42ED082-80E2-A8FC-FE31-71707287F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012" y="3799"/>
            <a:ext cx="540000" cy="540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9F5A56-0CF8-895A-4B8A-5685B0520163}"/>
              </a:ext>
            </a:extLst>
          </p:cNvPr>
          <p:cNvCxnSpPr>
            <a:cxnSpLocks/>
          </p:cNvCxnSpPr>
          <p:nvPr/>
        </p:nvCxnSpPr>
        <p:spPr>
          <a:xfrm>
            <a:off x="1547664" y="2230638"/>
            <a:ext cx="936104" cy="134869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1EF57E-39AA-114C-E9C8-F7C956237335}"/>
              </a:ext>
            </a:extLst>
          </p:cNvPr>
          <p:cNvCxnSpPr>
            <a:cxnSpLocks/>
          </p:cNvCxnSpPr>
          <p:nvPr/>
        </p:nvCxnSpPr>
        <p:spPr>
          <a:xfrm flipH="1">
            <a:off x="3314819" y="2760748"/>
            <a:ext cx="924831" cy="81858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F6A103AA-37D4-F75C-25B2-D233D945F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8</a:t>
            </a:fld>
            <a:r>
              <a:rPr lang="en-AU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9AF45A-4075-E14D-92A7-C2C561737C10}"/>
              </a:ext>
            </a:extLst>
          </p:cNvPr>
          <p:cNvSpPr txBox="1"/>
          <p:nvPr/>
        </p:nvSpPr>
        <p:spPr>
          <a:xfrm>
            <a:off x="755576" y="1079590"/>
            <a:ext cx="149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A9CE"/>
                </a:solidFill>
              </a:rPr>
              <a:t>Base 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3F5A95-D808-83B4-6345-99A684802C9F}"/>
              </a:ext>
            </a:extLst>
          </p:cNvPr>
          <p:cNvSpPr txBox="1"/>
          <p:nvPr/>
        </p:nvSpPr>
        <p:spPr>
          <a:xfrm>
            <a:off x="3565295" y="1861306"/>
            <a:ext cx="1866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A9CE"/>
                </a:solidFill>
              </a:rPr>
              <a:t>Inversion Options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9169C-723C-C8CC-D48A-F9D2A2F7ACCC}"/>
              </a:ext>
            </a:extLst>
          </p:cNvPr>
          <p:cNvSpPr txBox="1"/>
          <p:nvPr/>
        </p:nvSpPr>
        <p:spPr>
          <a:xfrm>
            <a:off x="2322733" y="3553567"/>
            <a:ext cx="1061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A9CE"/>
                </a:solidFill>
              </a:rPr>
              <a:t>Inversion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54A698-EF93-0776-B5DD-7CD48E698D79}"/>
              </a:ext>
            </a:extLst>
          </p:cNvPr>
          <p:cNvSpPr txBox="1"/>
          <p:nvPr/>
        </p:nvSpPr>
        <p:spPr>
          <a:xfrm>
            <a:off x="698807" y="2501246"/>
            <a:ext cx="10005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Jacobian</a:t>
            </a:r>
          </a:p>
          <a:p>
            <a:r>
              <a:rPr lang="en-US" sz="1100" dirty="0"/>
              <a:t>Residuals</a:t>
            </a:r>
          </a:p>
          <a:p>
            <a:r>
              <a:rPr lang="en-US" sz="1100" dirty="0"/>
              <a:t>Log Likelihood</a:t>
            </a:r>
          </a:p>
          <a:p>
            <a:r>
              <a:rPr lang="en-US" sz="1100" dirty="0"/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EEE85F-99B6-1F4B-5CC7-CF232F3D01F5}"/>
              </a:ext>
            </a:extLst>
          </p:cNvPr>
          <p:cNvSpPr txBox="1"/>
          <p:nvPr/>
        </p:nvSpPr>
        <p:spPr>
          <a:xfrm>
            <a:off x="4282750" y="2792698"/>
            <a:ext cx="13869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Proposal Strategy</a:t>
            </a:r>
          </a:p>
          <a:p>
            <a:r>
              <a:rPr lang="en-US" sz="1100" dirty="0"/>
              <a:t>Convergence Criteria</a:t>
            </a:r>
          </a:p>
          <a:p>
            <a:r>
              <a:rPr lang="en-US" sz="1100" dirty="0"/>
              <a:t>Number of iterations</a:t>
            </a:r>
          </a:p>
          <a:p>
            <a:r>
              <a:rPr lang="en-US" sz="1100" dirty="0"/>
              <a:t>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51642C-75D2-B98B-4E8C-88DF7F6FA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52F9D5-4DD4-4C14-CA23-C69AE8BC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messages…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A5A54-6307-CD92-7A45-DA892A10A40C}"/>
              </a:ext>
            </a:extLst>
          </p:cNvPr>
          <p:cNvSpPr txBox="1"/>
          <p:nvPr/>
        </p:nvSpPr>
        <p:spPr>
          <a:xfrm>
            <a:off x="251520" y="988516"/>
            <a:ext cx="425812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we hope you will take home today:</a:t>
            </a:r>
          </a:p>
          <a:p>
            <a:endParaRPr lang="en-US" dirty="0"/>
          </a:p>
          <a:p>
            <a:pPr lvl="1"/>
            <a:r>
              <a:rPr lang="en-US" dirty="0"/>
              <a:t>An understanding what </a:t>
            </a:r>
            <a:r>
              <a:rPr lang="en-US" dirty="0" err="1"/>
              <a:t>CoFI</a:t>
            </a:r>
            <a:r>
              <a:rPr lang="en-US" dirty="0"/>
              <a:t> can do.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 familiarity with the design and philosophy of </a:t>
            </a:r>
            <a:r>
              <a:rPr lang="en-US" dirty="0" err="1"/>
              <a:t>CoFI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AU" b="0" i="0" dirty="0">
                <a:solidFill>
                  <a:srgbClr val="1F1F1F"/>
                </a:solidFill>
                <a:effectLst/>
                <a:latin typeface="Google Sans"/>
              </a:rPr>
              <a:t>Cognizance of the avenues to engage with </a:t>
            </a:r>
            <a:r>
              <a:rPr lang="en-AU" b="0" i="0" dirty="0" err="1">
                <a:solidFill>
                  <a:srgbClr val="1F1F1F"/>
                </a:solidFill>
                <a:effectLst/>
                <a:latin typeface="Google Sans"/>
              </a:rPr>
              <a:t>CoFI</a:t>
            </a:r>
            <a:r>
              <a:rPr lang="en-AU" b="0" i="0" dirty="0">
                <a:solidFill>
                  <a:srgbClr val="1F1F1F"/>
                </a:solidFill>
                <a:effectLst/>
                <a:latin typeface="Google Sans"/>
              </a:rPr>
              <a:t> and </a:t>
            </a:r>
            <a:r>
              <a:rPr lang="en-AU" b="0" i="0" dirty="0" err="1">
                <a:solidFill>
                  <a:srgbClr val="1F1F1F"/>
                </a:solidFill>
                <a:effectLst/>
                <a:latin typeface="Google Sans"/>
              </a:rPr>
              <a:t>InLab</a:t>
            </a: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4C2B7-4CFB-1096-C108-C1BB41634C87}"/>
              </a:ext>
            </a:extLst>
          </p:cNvPr>
          <p:cNvSpPr txBox="1"/>
          <p:nvPr/>
        </p:nvSpPr>
        <p:spPr>
          <a:xfrm>
            <a:off x="4634351" y="988516"/>
            <a:ext cx="42581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What we hope to take away today:</a:t>
            </a:r>
          </a:p>
          <a:p>
            <a:pPr lvl="1"/>
            <a:endParaRPr lang="en-AU" dirty="0">
              <a:latin typeface="+mj-lt"/>
            </a:endParaRPr>
          </a:p>
          <a:p>
            <a:pPr lvl="1"/>
            <a:r>
              <a:rPr lang="en-AU" dirty="0">
                <a:latin typeface="+mj-lt"/>
              </a:rPr>
              <a:t>P</a:t>
            </a:r>
            <a:r>
              <a:rPr lang="en-AU" dirty="0">
                <a:effectLst/>
                <a:latin typeface="+mj-lt"/>
              </a:rPr>
              <a:t>riorities: Expanding the methods; the examples, building a community, other? </a:t>
            </a:r>
          </a:p>
          <a:p>
            <a:pPr lvl="1"/>
            <a:endParaRPr lang="en-AU" dirty="0">
              <a:effectLst/>
              <a:latin typeface="+mj-lt"/>
            </a:endParaRPr>
          </a:p>
          <a:p>
            <a:pPr lvl="1"/>
            <a:r>
              <a:rPr lang="en-AU" dirty="0">
                <a:effectLst/>
                <a:latin typeface="+mj-lt"/>
              </a:rPr>
              <a:t>Wish lists: scalability; real data problems; automatic differentiation… 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4553FA-8B10-98CB-81C2-2E8144A3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6269EC3-06DD-EAED-D60D-55FBA8D644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9</a:t>
            </a:fld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7361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DC5E-E905-1FB8-7A87-EF0AA337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5FFA36-C1C6-F943-D27C-BBE35286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CoFI</a:t>
            </a:r>
            <a:r>
              <a:rPr lang="en-US" dirty="0"/>
              <a:t> – A </a:t>
            </a:r>
            <a:r>
              <a:rPr lang="en-US" b="1" dirty="0"/>
              <a:t>Co</a:t>
            </a:r>
            <a:r>
              <a:rPr lang="en-US" dirty="0"/>
              <a:t>mmon </a:t>
            </a:r>
            <a:r>
              <a:rPr lang="en-US" b="1" dirty="0"/>
              <a:t>F</a:t>
            </a:r>
            <a:r>
              <a:rPr lang="en-US" dirty="0"/>
              <a:t>ramework for </a:t>
            </a:r>
            <a:r>
              <a:rPr lang="en-US" b="1" dirty="0"/>
              <a:t>I</a:t>
            </a:r>
            <a:r>
              <a:rPr lang="en-US" dirty="0"/>
              <a:t>nference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74C33-9934-9A55-499C-F1A83E580DDA}"/>
              </a:ext>
            </a:extLst>
          </p:cNvPr>
          <p:cNvSpPr txBox="1"/>
          <p:nvPr/>
        </p:nvSpPr>
        <p:spPr>
          <a:xfrm>
            <a:off x="404258" y="1134603"/>
            <a:ext cx="531987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4B87"/>
                </a:solidFill>
              </a:rPr>
              <a:t>The application domain expert says: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4B87"/>
                </a:solidFill>
              </a:rPr>
              <a:t>What inference methods are suited to my data?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4B87"/>
                </a:solidFill>
              </a:rPr>
              <a:t>Where can I get access to them? What is required to make them talk to my forward problem/data?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4B87"/>
                </a:solidFill>
              </a:rPr>
              <a:t>How much work is that for me?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BF2AC-62AE-461E-0950-5B4F3AADBCD1}"/>
              </a:ext>
            </a:extLst>
          </p:cNvPr>
          <p:cNvSpPr txBox="1"/>
          <p:nvPr/>
        </p:nvSpPr>
        <p:spPr>
          <a:xfrm>
            <a:off x="397051" y="3622925"/>
            <a:ext cx="6768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277"/>
                </a:solidFill>
              </a:rPr>
              <a:t>The inference specialist says: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277"/>
                </a:solidFill>
              </a:rPr>
              <a:t>What other problems can my inference method solve?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277"/>
                </a:solidFill>
              </a:rPr>
              <a:t>Where can I get access to them?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7277"/>
                </a:solidFill>
              </a:rPr>
              <a:t>How much work is that for me?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7E1968-501F-DA7E-EDAB-1FA9A6425C7C}"/>
              </a:ext>
            </a:extLst>
          </p:cNvPr>
          <p:cNvSpPr txBox="1"/>
          <p:nvPr/>
        </p:nvSpPr>
        <p:spPr>
          <a:xfrm>
            <a:off x="397051" y="2377331"/>
            <a:ext cx="56151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6D1E77"/>
                </a:solidFill>
              </a:rPr>
              <a:t>The research manager says: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6D1E77"/>
                </a:solidFill>
              </a:rPr>
              <a:t>How can my  staff learn about state-of-the-art inference methods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6D1E77"/>
                </a:solidFill>
              </a:rPr>
              <a:t>How do we access the expertise?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6D1E77"/>
                </a:solidFill>
              </a:rPr>
              <a:t>Can we keep our design options open?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6D1E77"/>
                </a:solidFill>
              </a:rPr>
              <a:t>How long will it take?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0C0FBB-7334-E88E-7C07-95F7BBFFC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839" y="1635646"/>
            <a:ext cx="2812876" cy="2373364"/>
          </a:xfrm>
          <a:prstGeom prst="rect">
            <a:avLst/>
          </a:prstGeom>
        </p:spPr>
      </p:pic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937F84F1-CAE0-1B20-8AB8-69C8AED16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715" y="96"/>
            <a:ext cx="540000" cy="540000"/>
          </a:xfrm>
          <a:prstGeom prst="rect">
            <a:avLst/>
          </a:prstGeom>
        </p:spPr>
      </p:pic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D0F6D15-1BAD-A061-380F-045FA2638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3577" y="4878250"/>
            <a:ext cx="288789" cy="95510"/>
          </a:xfrm>
        </p:spPr>
        <p:txBody>
          <a:bodyPr/>
          <a:lstStyle/>
          <a:p>
            <a:pPr algn="ctr"/>
            <a:fld id="{2ABE124A-B5C5-46E0-B944-45307B126769}" type="slidenum">
              <a:rPr lang="en-AU" smtClean="0"/>
              <a:pPr algn="ctr"/>
              <a:t>10</a:t>
            </a:fld>
            <a:r>
              <a:rPr lang="en-AU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E3B72-FEBA-034F-C292-A99EAE75E4C2}"/>
              </a:ext>
            </a:extLst>
          </p:cNvPr>
          <p:cNvSpPr txBox="1"/>
          <p:nvPr/>
        </p:nvSpPr>
        <p:spPr>
          <a:xfrm>
            <a:off x="6757882" y="4094995"/>
            <a:ext cx="1328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www.inlab.au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A7AFD2-3BEA-21E7-FF42-8B65244FA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840" y="4567244"/>
            <a:ext cx="1440160" cy="58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01953"/>
      </p:ext>
    </p:extLst>
  </p:cSld>
  <p:clrMapOvr>
    <a:masterClrMapping/>
  </p:clrMapOvr>
</p:sld>
</file>

<file path=ppt/theme/theme1.xml><?xml version="1.0" encoding="utf-8"?>
<a:theme xmlns:a="http://schemas.openxmlformats.org/drawingml/2006/main" name="CSIRO horizont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4E4DF566-B70F-4928-80E7-694B9E9A2FBD}"/>
    </a:ext>
  </a:extLst>
</a:theme>
</file>

<file path=ppt/theme/theme2.xml><?xml version="1.0" encoding="utf-8"?>
<a:theme xmlns:a="http://schemas.openxmlformats.org/drawingml/2006/main" name="Data61 vertic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0398C969-54DD-46EF-89D3-EBAEE5270F10}"/>
    </a:ext>
  </a:extLst>
</a:theme>
</file>

<file path=ppt/theme/theme3.xml><?xml version="1.0" encoding="utf-8"?>
<a:theme xmlns:a="http://schemas.openxmlformats.org/drawingml/2006/main" name="Data61 horizont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83853432-11B4-49DC-8E1B-8FA6CFB2F4E0}"/>
    </a:ext>
  </a:extLst>
</a:theme>
</file>

<file path=ppt/theme/theme4.xml><?xml version="1.0" encoding="utf-8"?>
<a:theme xmlns:a="http://schemas.openxmlformats.org/drawingml/2006/main" name="MNF vertic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02E87599-44C4-42C3-BED7-5FF59534C5EF}"/>
    </a:ext>
  </a:extLst>
</a:theme>
</file>

<file path=ppt/theme/theme5.xml><?xml version="1.0" encoding="utf-8"?>
<a:theme xmlns:a="http://schemas.openxmlformats.org/drawingml/2006/main" name="MNF horizont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1D630F70-31C1-47EA-9A5C-0993FCC783EC}"/>
    </a:ext>
  </a:extLst>
</a:theme>
</file>

<file path=ppt/theme/theme6.xml><?xml version="1.0" encoding="utf-8"?>
<a:theme xmlns:a="http://schemas.openxmlformats.org/drawingml/2006/main" name="Wordmark vertic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5D5CE2B9-9AB1-444B-84B0-F100492FB77D}"/>
    </a:ext>
  </a:extLst>
</a:theme>
</file>

<file path=ppt/theme/theme7.xml><?xml version="1.0" encoding="utf-8"?>
<a:theme xmlns:a="http://schemas.openxmlformats.org/drawingml/2006/main" name="Wordmark horizontal">
  <a:themeElements>
    <a:clrScheme name="CSIRO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16.9 Widescreen.potx" id="{4F9F179C-FC55-4406-9372-ACB71F56CD80}" vid="{28CA8483-C027-4DC1-BB4B-A94F6F059FFD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CSIRO vertical</Template>
  <TotalTime>1135</TotalTime>
  <Words>681</Words>
  <Application>Microsoft Macintosh PowerPoint</Application>
  <PresentationFormat>On-screen Show (16:9)</PresentationFormat>
  <Paragraphs>115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-apple-system</vt:lpstr>
      <vt:lpstr>Arial</vt:lpstr>
      <vt:lpstr>Calibri</vt:lpstr>
      <vt:lpstr>Google Sans</vt:lpstr>
      <vt:lpstr>Helvetica Neue</vt:lpstr>
      <vt:lpstr>HelveticaNeue</vt:lpstr>
      <vt:lpstr>Linux Libertine</vt:lpstr>
      <vt:lpstr>CSIRO horizontal</vt:lpstr>
      <vt:lpstr>Data61 vertical</vt:lpstr>
      <vt:lpstr>Data61 horizontal</vt:lpstr>
      <vt:lpstr>MNF vertical</vt:lpstr>
      <vt:lpstr>MNF horizontal</vt:lpstr>
      <vt:lpstr>Wordmark vertical</vt:lpstr>
      <vt:lpstr>Wordmark horizontal</vt:lpstr>
      <vt:lpstr>Using CoFI to experiment with geophysical inversion</vt:lpstr>
      <vt:lpstr>PowerPoint Presentation</vt:lpstr>
      <vt:lpstr>PowerPoint Presentation</vt:lpstr>
      <vt:lpstr>PowerPoint Presentation</vt:lpstr>
      <vt:lpstr>Exploration is about possibilities</vt:lpstr>
      <vt:lpstr>Momentum based optimisers</vt:lpstr>
      <vt:lpstr>The CoFI explorer</vt:lpstr>
      <vt:lpstr>Capturing an inverse problem</vt:lpstr>
      <vt:lpstr>Take home messages…</vt:lpstr>
      <vt:lpstr>CoFI – A Common Framework for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Hauser, Juerg (Mineral Resources, Black Mountain)</dc:creator>
  <cp:lastModifiedBy>Hauser, Juerg (Mineral Resources, Black Mountain)</cp:lastModifiedBy>
  <cp:revision>135</cp:revision>
  <cp:lastPrinted>2024-02-06T05:29:14Z</cp:lastPrinted>
  <dcterms:created xsi:type="dcterms:W3CDTF">2024-01-02T22:42:33Z</dcterms:created>
  <dcterms:modified xsi:type="dcterms:W3CDTF">2025-06-17T03:54:10Z</dcterms:modified>
</cp:coreProperties>
</file>